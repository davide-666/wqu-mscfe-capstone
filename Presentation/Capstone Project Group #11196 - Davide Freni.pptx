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it-IT" sz="4400" strike="noStrike" u="none">
                <a:solidFill>
                  <a:srgbClr val="000000"/>
                </a:solidFill>
                <a:effectLst/>
                <a:uFillTx/>
                <a:latin typeface="Arial"/>
              </a:rPr>
              <a:t>Fai clic per spostare la diapositiva</a:t>
            </a:r>
            <a:endParaRPr b="0" lang="it-IT" sz="4400" strike="noStrike" u="none">
              <a:solidFill>
                <a:srgbClr val="000000"/>
              </a:solidFill>
              <a:effectLst/>
              <a:uFillTx/>
              <a:latin typeface="Arial"/>
            </a:endParaRPr>
          </a:p>
        </p:txBody>
      </p:sp>
      <p:sp>
        <p:nvSpPr>
          <p:cNvPr id="3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it-IT" sz="2000" strike="noStrike" u="none">
                <a:solidFill>
                  <a:srgbClr val="000000"/>
                </a:solidFill>
                <a:effectLst/>
                <a:uFillTx/>
                <a:latin typeface="Arial"/>
              </a:rPr>
              <a:t>Fai clic per modificare il formato delle note</a:t>
            </a:r>
            <a:endParaRPr b="0" lang="it-IT" sz="2000" strike="noStrike" u="none">
              <a:solidFill>
                <a:srgbClr val="000000"/>
              </a:solidFill>
              <a:effectLst/>
              <a:uFillTx/>
              <a:latin typeface="Arial"/>
            </a:endParaRPr>
          </a:p>
        </p:txBody>
      </p:sp>
      <p:sp>
        <p:nvSpPr>
          <p:cNvPr id="3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it-IT" sz="1400" strike="noStrike" u="none">
                <a:solidFill>
                  <a:srgbClr val="000000"/>
                </a:solidFill>
                <a:effectLst/>
                <a:uFillTx/>
                <a:latin typeface="Times New Roman"/>
              </a:rPr>
              <a:t>&lt;intestazione&gt;</a:t>
            </a:r>
            <a:endParaRPr b="0" lang="it-IT" sz="1400" strike="noStrike" u="none">
              <a:solidFill>
                <a:srgbClr val="000000"/>
              </a:solidFill>
              <a:effectLst/>
              <a:uFillTx/>
              <a:latin typeface="Times New Roman"/>
            </a:endParaRPr>
          </a:p>
        </p:txBody>
      </p:sp>
      <p:sp>
        <p:nvSpPr>
          <p:cNvPr id="33"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it-IT" sz="1400" strike="noStrike" u="none">
                <a:solidFill>
                  <a:srgbClr val="000000"/>
                </a:solidFill>
                <a:effectLst/>
                <a:uFillTx/>
                <a:latin typeface="Times New Roman"/>
              </a:defRPr>
            </a:lvl1pPr>
          </a:lstStyle>
          <a:p>
            <a:pPr indent="0" algn="r">
              <a:buNone/>
            </a:pPr>
            <a:r>
              <a:rPr b="0" lang="it-IT" sz="1400" strike="noStrike" u="none">
                <a:solidFill>
                  <a:srgbClr val="000000"/>
                </a:solidFill>
                <a:effectLst/>
                <a:uFillTx/>
                <a:latin typeface="Times New Roman"/>
              </a:rPr>
              <a:t>&lt;data/ora&gt;</a:t>
            </a:r>
            <a:endParaRPr b="0" lang="it-IT" sz="1400" strike="noStrike" u="none">
              <a:solidFill>
                <a:srgbClr val="000000"/>
              </a:solidFill>
              <a:effectLst/>
              <a:uFillTx/>
              <a:latin typeface="Times New Roman"/>
            </a:endParaRPr>
          </a:p>
        </p:txBody>
      </p:sp>
      <p:sp>
        <p:nvSpPr>
          <p:cNvPr id="34"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it-IT" sz="1400" strike="noStrike" u="none">
                <a:solidFill>
                  <a:srgbClr val="000000"/>
                </a:solidFill>
                <a:effectLst/>
                <a:uFillTx/>
                <a:latin typeface="Times New Roman"/>
              </a:defRPr>
            </a:lvl1pPr>
          </a:lstStyle>
          <a:p>
            <a:pPr indent="0">
              <a:buNone/>
            </a:pPr>
            <a:r>
              <a:rPr b="0" lang="it-IT" sz="1400" strike="noStrike" u="none">
                <a:solidFill>
                  <a:srgbClr val="000000"/>
                </a:solidFill>
                <a:effectLst/>
                <a:uFillTx/>
                <a:latin typeface="Times New Roman"/>
              </a:rPr>
              <a:t>&lt;piè di pagina&gt;</a:t>
            </a:r>
            <a:endParaRPr b="0" lang="it-IT" sz="1400" strike="noStrike" u="none">
              <a:solidFill>
                <a:srgbClr val="000000"/>
              </a:solidFill>
              <a:effectLst/>
              <a:uFillTx/>
              <a:latin typeface="Times New Roman"/>
            </a:endParaRPr>
          </a:p>
        </p:txBody>
      </p:sp>
      <p:sp>
        <p:nvSpPr>
          <p:cNvPr id="35"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it-IT" sz="1400" strike="noStrike" u="none">
                <a:solidFill>
                  <a:srgbClr val="000000"/>
                </a:solidFill>
                <a:effectLst/>
                <a:uFillTx/>
                <a:latin typeface="Times New Roman"/>
              </a:defRPr>
            </a:lvl1pPr>
          </a:lstStyle>
          <a:p>
            <a:pPr indent="0" algn="r">
              <a:buNone/>
            </a:pPr>
            <a:fld id="{5EE8CE35-3ED4-4E30-9190-19039301ADBE}" type="slidenum">
              <a:rPr b="0" lang="it-IT" sz="1400" strike="noStrike" u="none">
                <a:solidFill>
                  <a:srgbClr val="000000"/>
                </a:solidFill>
                <a:effectLst/>
                <a:uFillTx/>
                <a:latin typeface="Times New Roman"/>
              </a:rPr>
              <a:t>&lt;numero&gt;</a:t>
            </a:fld>
            <a:endParaRPr b="0" lang="it-IT"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216000" y="812520"/>
            <a:ext cx="7126920" cy="4008600"/>
          </a:xfrm>
          <a:prstGeom prst="rect">
            <a:avLst/>
          </a:prstGeom>
          <a:ln w="0">
            <a:noFill/>
          </a:ln>
        </p:spPr>
      </p:sp>
      <p:sp>
        <p:nvSpPr>
          <p:cNvPr id="7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buNone/>
              <a:tabLst>
                <a:tab algn="l" pos="0"/>
              </a:tabLst>
            </a:pPr>
            <a:r>
              <a:rPr b="0" lang="it-IT" sz="2000" strike="noStrike" u="none">
                <a:solidFill>
                  <a:srgbClr val="000000"/>
                </a:solidFill>
                <a:effectLst/>
                <a:uFillTx/>
                <a:latin typeface="Arial"/>
              </a:rPr>
              <a:t>Fai clic per aggiungere delle note</a:t>
            </a:r>
            <a:endParaRPr b="0" lang="it-IT" sz="20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ldImg"/>
          </p:nvPr>
        </p:nvSpPr>
        <p:spPr>
          <a:xfrm>
            <a:off x="216360" y="812520"/>
            <a:ext cx="7126560" cy="4008600"/>
          </a:xfrm>
          <a:prstGeom prst="rect">
            <a:avLst/>
          </a:prstGeom>
          <a:ln w="0">
            <a:noFill/>
          </a:ln>
        </p:spPr>
      </p:sp>
      <p:sp>
        <p:nvSpPr>
          <p:cNvPr id="7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ts val="2500"/>
              </a:lnSpc>
              <a:buNone/>
              <a:tabLst>
                <a:tab algn="l" pos="0"/>
              </a:tabLst>
            </a:pPr>
            <a:r>
              <a:rPr b="1" lang="en-US" sz="2000" strike="noStrike" u="none">
                <a:solidFill>
                  <a:srgbClr val="443728"/>
                </a:solidFill>
                <a:effectLst/>
                <a:uFillTx/>
                <a:latin typeface="Crimson Pro Bold"/>
                <a:ea typeface="Crimson Pro Bold"/>
              </a:rPr>
              <a:t>Address Traditional Weaknesses</a:t>
            </a:r>
            <a:endParaRPr b="0" lang="it-IT" sz="20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Implement and rigorously backtest new strategies designed to overcome the limitations of classical portfolio management approaches (Unrealistic Assumption, Sensitivity to errors, Lack of Adaptation, weak Risk management)</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500"/>
              </a:lnSpc>
              <a:buNone/>
              <a:tabLst>
                <a:tab algn="l" pos="0"/>
              </a:tabLst>
            </a:pPr>
            <a:r>
              <a:rPr b="1" lang="en-US" sz="2000" strike="noStrike" u="none">
                <a:solidFill>
                  <a:srgbClr val="443728"/>
                </a:solidFill>
                <a:effectLst/>
                <a:uFillTx/>
                <a:latin typeface="Crimson Pro Bold"/>
                <a:ea typeface="Crimson Pro Bold"/>
              </a:rPr>
              <a:t>Comparative Performance Analysis</a:t>
            </a:r>
            <a:endParaRPr b="0" lang="it-IT" sz="20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Compare the performance of diverse strategies using standard Key Performance Indicators (KPIs) and clear visualizations for transparent insights.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500"/>
              </a:lnSpc>
              <a:buNone/>
              <a:tabLst>
                <a:tab algn="l" pos="0"/>
              </a:tabLst>
            </a:pPr>
            <a:r>
              <a:rPr b="1" lang="en-US" sz="2000" strike="noStrike" u="none">
                <a:solidFill>
                  <a:srgbClr val="443728"/>
                </a:solidFill>
                <a:effectLst/>
                <a:uFillTx/>
                <a:latin typeface="Crimson Pro Bold"/>
                <a:ea typeface="Crimson Pro Bold"/>
              </a:rPr>
              <a:t>Develop Replicable Codebase</a:t>
            </a:r>
            <a:endParaRPr b="0" lang="it-IT" sz="20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Create well-documented, clean code that serves as a practical reference for academic instruction and direct application in trading environments.</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1. It Solves the Failures of Traditional Models</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The project highlights that classical strategies, specifically the Markowitz Mean-Variance optimization, are often ineffective in today's dynamic markets. The report identifies several "fatal" flaws in these traditional methods that this project aims to fix:</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Unrealistic Assumptions: Traditional models incorrectly assume that prices and risks are constant, whereas real markets operate in cycles.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Sensitivity to Error: Standard models are "very sensitive" to small estimation errors in returns or covariance matrices.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Lack of Adaptation: Traditional rules "never learn," meaning a strategy that fit yesterday's market might fail tomorrow.</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By moving beyond these static models, the project provides a framework that can adjust to fresh data and changing market conditions.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2. It Validates Superior Risk Management via AI</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The project is empirically important because it proves that AI-driven strategies (specifically Reinforcement Learning and Machine Learning) outperform traditional optimization methods in terms of risk-adjusted returns.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Crisis Protection: During market downturns, the AI approaches limited losses to approximately 43%, whereas the traditional Markowitz model suffered significantly higher losses of 58%.</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Volatility Reduction: The Reinforcement Learning (PPO) strategy delivered the best risk-adjusted performance, while the Markowitz model exhibited the highest volatility and drawdown risk.</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3. It Introduces the "Smartportfolios" Framework</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The project contributes a novel framework called "Smartportfolios" that integrates distinct AI disciplines—Machine Learning, Deep Learning, and Reinforcement Learning—into portfolio allocation.</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Novel Strategies: It introduces non-traditional strategies like Proximal Policy Optimization (PPO) and a Dynamic Switching Hybrid Ensemble, which adapts its strategy based on changing market conditions.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Holistic View: It offers investors a comprehensive view of how different AI strategies can be leveraged to optimize portfolios effectively.</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4. It Shifts the Focus from "Alpha" to "Safety"</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A key finding that drives the project's importance is the insight into how AI generates value. The analysis reveals that the superior performance of AI models is not necessarily due to predicting "winning assets" (alpha generation). Instead, the AI excels at risk management—specifically, avoiding the concentration risks and estimation instability inherent in traditional frameworks.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Practical Takeaway: The project concludes that AI frameworks are particularly valuable for "preventing large losses rather than predicting large gains".</a:t>
            </a:r>
            <a:endParaRPr b="0" lang="it-IT" sz="1300" strike="noStrike" u="none">
              <a:solidFill>
                <a:srgbClr val="000000"/>
              </a:solidFill>
              <a:effectLst/>
              <a:uFillTx/>
              <a:latin typeface="Arial"/>
            </a:endParaRPr>
          </a:p>
          <a:p>
            <a:pPr indent="0">
              <a:lnSpc>
                <a:spcPts val="2100"/>
              </a:lnSpc>
              <a:buNone/>
              <a:tabLst>
                <a:tab algn="l" pos="0"/>
              </a:tabLst>
            </a:pP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5. It Democratizes Advanced Financial Tools</a:t>
            </a:r>
            <a:endParaRPr b="0" lang="it-IT" sz="1300" strike="noStrike" u="none">
              <a:solidFill>
                <a:srgbClr val="000000"/>
              </a:solidFill>
              <a:effectLst/>
              <a:uFillTx/>
              <a:latin typeface="Arial"/>
            </a:endParaRPr>
          </a:p>
          <a:p>
            <a:pPr indent="0">
              <a:lnSpc>
                <a:spcPts val="2100"/>
              </a:lnSpc>
              <a:buNone/>
              <a:tabLst>
                <a:tab algn="l" pos="0"/>
              </a:tabLst>
            </a:pPr>
            <a:r>
              <a:rPr b="0" lang="en-US" sz="1300" strike="noStrike" u="none">
                <a:solidFill>
                  <a:srgbClr val="443728"/>
                </a:solidFill>
                <a:effectLst/>
                <a:uFillTx/>
                <a:latin typeface="Open Sans"/>
                <a:ea typeface="Open Sans"/>
              </a:rPr>
              <a:t>Finally, the project aims to bridge the gap between theoretical finance and practical application. It provides clear, well-documented code intended to be used as a reference in classrooms or implemented directly on trading desks. This allows portfolio managers to move away from relying solely on outdated methods and adopt Reinforcement Learning strategies.</a:t>
            </a:r>
            <a:endParaRPr b="0" lang="it-IT" sz="13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216360" y="812520"/>
            <a:ext cx="7126560" cy="4008600"/>
          </a:xfrm>
          <a:prstGeom prst="rect">
            <a:avLst/>
          </a:prstGeom>
          <a:ln w="0">
            <a:noFill/>
          </a:ln>
        </p:spPr>
      </p:sp>
      <p:sp>
        <p:nvSpPr>
          <p:cNvPr id="7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Challenging Traditional Portfolio Theory</a:t>
            </a:r>
            <a:br>
              <a:rPr sz="1200"/>
            </a:br>
            <a:r>
              <a:rPr b="0" lang="it-IT" sz="1200" strike="noStrike" u="none">
                <a:solidFill>
                  <a:srgbClr val="000000"/>
                </a:solidFill>
                <a:effectLst/>
                <a:uFillTx/>
                <a:latin typeface="Arial"/>
              </a:rPr>
              <a:t>By demonstrating the significant underperformance and higher volatility , the project validates its high sensitivity to estimation errors and unrealistic assumptions</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Reinforcing the Naive Baseline</a:t>
            </a:r>
            <a:br>
              <a:rPr sz="1200"/>
            </a:br>
            <a:r>
              <a:rPr b="0" lang="it-IT" sz="1200" strike="noStrike" u="none">
                <a:solidFill>
                  <a:srgbClr val="000000"/>
                </a:solidFill>
                <a:effectLst/>
                <a:uFillTx/>
                <a:latin typeface="Arial"/>
              </a:rPr>
              <a:t>in many real-world scenarios, the simple 1/N strategy often provides a more robust and efficient alternative than models that require complex parameter estimation.</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Integration with Machine Learning in Finance</a:t>
            </a:r>
            <a:br>
              <a:rPr sz="1200"/>
            </a:br>
            <a:r>
              <a:rPr b="0" lang="it-IT" sz="1200" strike="noStrike" u="none">
                <a:solidFill>
                  <a:srgbClr val="000000"/>
                </a:solidFill>
                <a:effectLst/>
                <a:uFillTx/>
                <a:latin typeface="Arial"/>
              </a:rPr>
              <a:t>The projects includes Random Forest (ML) and Reinforcement Learning (RL) models and translates them into actionable financial strategies.</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"Smartportfolios," provides a Practical Implementation to evaluates and compares five fundamentally different portfolio strategies, provides strong empirical evidence that the Proximal Policy Optimization (PPO) Reinforcement Learning strategy delivers the highest risk-adjusted performance (as measured by metrics like the Sharpe Ratio), while maintaining the lowest volatility among all tested strategies.</a:t>
            </a:r>
            <a:br>
              <a:rPr sz="1000"/>
            </a:br>
            <a:r>
              <a:rPr b="0" lang="it-IT" sz="1000" strike="noStrike" u="none">
                <a:solidFill>
                  <a:srgbClr val="000000"/>
                </a:solidFill>
                <a:effectLst/>
                <a:uFillTx/>
                <a:latin typeface="Arial"/>
              </a:rPr>
              <a:t>Furthermore it highlights the Shift of the Focus from Alpha to Risk Management</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200" strike="noStrike" u="none">
                <a:solidFill>
                  <a:srgbClr val="000000"/>
                </a:solidFill>
                <a:effectLst/>
                <a:uFillTx/>
                <a:latin typeface="Arial"/>
              </a:rPr>
              <a:t>-----------------------------------------</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project is highly relevant to and builds upon several key areas of established quantitative finance and machine learning literature. Its primary contribution lies in the empirical validation and synthesis of advanced AI methodologies into a cohesive, comparative framework.</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600" strike="noStrike" u="none">
                <a:solidFill>
                  <a:srgbClr val="000000"/>
                </a:solidFill>
                <a:effectLst/>
                <a:uFillTx/>
                <a:latin typeface="Arial"/>
              </a:rPr>
              <a:t>Relationship to Existing Published Work</a:t>
            </a:r>
            <a:endParaRPr b="0" lang="it-IT"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This project directly engages with and challenges several foundational and contemporary works in the field:</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1. Challenging Traditional Portfolio Theory</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work uses the Markowitz Mean-Variance Optimization (MVO) model (Markowitz, 1952) as its central historical benchmark. By demonstrating the significant underperformance and high volatility of the MVO model compared to the AI strategies, the project validates the extensive literature that critiques MVO's practical limitations, particularly its high sensitivity to estimation errors and unrealistic assumptions (Michaud, 1989).</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2. Reinforcing the Naive Baseline</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project includes the Equal Weight (1/N) strategy as a crucial baseline. Its outperformance relative to the complex, yet brittle, Markowitz optimization supports the findings of influential studies (DeMiguel, Garlappi, and Uppal, 2009), which concluded that, in many real-world scenarios, the simple 1/N strategy often provides a more robust and efficient alternative than models that require complex parameter estimation.</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3. Integration with Machine Learning in Finance</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inclusion of Random Forest (ML) and Reinforcement Learning (RL) models places this work firmly within the modern trend of utilizing complex, non-linear machine learning techniques for asset allocation (Gu, Kelly, and Xiu, 2020). By testing these models, the project builds on the theoretical applications of these algorithms (Breiman, 2001; LeCun, Bengio, and Hinton, 2015) and translates them into actionable financial strategies.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600" strike="noStrike" u="none">
                <a:solidFill>
                  <a:srgbClr val="000000"/>
                </a:solidFill>
                <a:effectLst/>
                <a:uFillTx/>
                <a:latin typeface="Arial"/>
              </a:rPr>
              <a:t>Contribution to the Knowledge Base</a:t>
            </a:r>
            <a:endParaRPr b="0" lang="it-IT"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project makes several specific contributions that advance the knowledge base in quantitative portfolio management:</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1. The Smartportfolios Comparative Framework</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most significant contribution is the introduction of "Smartportfolios," a unified framework that simultaneously evaluates and compares five fundamentally different portfolio strategies: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Traditional: Mean-Variance</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Heuristic: Equal Weight</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Machine Learning: Random Forest</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Reinforcement Learning: Proximal Policy Optimization (PPO)</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Hybrid: Ensemble Method</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This direct, head-to-head comparison under consistent market conditions (2023–2024) provides a clear benchmark for researchers and practitioners on the relative efficiency and risk profiles of these diverse models.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2. Empirical Validation of PPO Superiority</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project provides strong empirical evidence that the Proximal Policy Optimization (PPO) Reinforcement Learning strategy delivers the highest risk-adjusted performance (as measured by metrics like the Sharpe Ratio), while maintaining the lowest volatility among all tested strategies. This highlights PPO as a leading methodology for practical portfolio allocation in a real-world setting.</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3. Shifting Focus from Alpha to Risk Management</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A crucial qualitative contribution is the insight regarding the source of AI's success. The results suggest that the superior performance of AI models is less about successfully forecasting alpha and more about optimized risk management and drawdown minimization. The AI successfully prevents large losses during turbulent periods (limiting drawdown to $\approx 43\%$ versus $58\%$ for Markowitz), suggesting that the primary value of sophisticated models lies in portfolio stability and downside protection rather than outguessing the market.</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it-IT" sz="1200" strike="noStrike" u="none">
                <a:solidFill>
                  <a:srgbClr val="000000"/>
                </a:solidFill>
                <a:effectLst/>
                <a:uFillTx/>
                <a:latin typeface="Arial"/>
              </a:rPr>
              <a:t>4. Practical Implementation and Reproducibility</a:t>
            </a:r>
            <a:endParaRPr b="0" lang="it-IT" sz="12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The project contributes a fully documented and readily implementable code base for the advanced strategies. This is vital for applied research and industry adoption, allowing academic findings to be easily reproduced and deployed by quantitative analysts and institutional investors.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216360" y="812520"/>
            <a:ext cx="7126560" cy="4008600"/>
          </a:xfrm>
          <a:prstGeom prst="rect">
            <a:avLst/>
          </a:prstGeom>
          <a:ln w="0">
            <a:noFill/>
          </a:ln>
        </p:spPr>
      </p:sp>
      <p:sp>
        <p:nvSpPr>
          <p:cNvPr id="7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1" lang="it-IT" sz="1000" strike="noStrike" u="none">
                <a:solidFill>
                  <a:srgbClr val="000000"/>
                </a:solidFill>
                <a:effectLst/>
                <a:uFillTx/>
                <a:latin typeface="Arial"/>
              </a:rPr>
              <a:t>Assumptions Made</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To develop the "Smartportfolios" framework and compare the strategies effectively, the project relied on several key assumptions: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Simplified Cost Model: The most significant assumption is the exclusion of real-world trading frictions. The backtest assumes a "simplified cost model" that does not include transaction costs1. It acknowledges that in the real world, factors such as slippage, market impact, and transaction fees would decrease actual performance2.</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Validity of a Short Timeframe: The project assumes that a two-year dataset (January 1, 2023 – December 31, 2024) is sufficient to derive meaningful conclusions3. However, the report explicitly notes this as a limitation, stating that this "small sample period" may not capture a complete economic cycle or a significant bear market4.</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Mock ESG Data: The project assumes the validity of "Mock scores" assigned to assets to reflect real-world sustainability rankings, rather than using a live ESG data feed5.</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Constant Investment Universe: The analysis assumes a fixed universe of five specific assets (GOOGL, UNH, AXP, AMZN, and XOM) for the duration of the testing period6666.</a:t>
            </a:r>
            <a:endParaRPr b="0" lang="it-IT" sz="10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Img"/>
          </p:nvPr>
        </p:nvSpPr>
        <p:spPr>
          <a:xfrm>
            <a:off x="216360" y="812520"/>
            <a:ext cx="7126560" cy="4008600"/>
          </a:xfrm>
          <a:prstGeom prst="rect">
            <a:avLst/>
          </a:prstGeom>
          <a:ln w="0">
            <a:noFill/>
          </a:ln>
        </p:spPr>
      </p:sp>
      <p:sp>
        <p:nvSpPr>
          <p:cNvPr id="8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Software and Programming Languages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While the text does not explicitly name "Python," the tools and libraries cited are characteristic of a standard Python-based financial data science stack.</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Data Acquisition (yfinance API): The project utilized the yfinance API as the primary tool to fetch historical market data7. This is a popular open-source library used to access Yahoo Finance data.</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Codebase Objectives: The choice of development tools was driven by the goal to write "clear and well-documented code" that is robust enough to be run "as is" on trading desks or used as an educational reference8.</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Algorithmic Implementation: The software backend was required to support complex model architectures, including:</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Reinforcement Learning: Specifically the Proximal Policy Optimization (PPO) algorithm.</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Machine Learning: Random Forest algorithms.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Deep Learning: Standard feedforward neural network architectures.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360" y="812520"/>
            <a:ext cx="7126560" cy="4008600"/>
          </a:xfrm>
          <a:prstGeom prst="rect">
            <a:avLst/>
          </a:prstGeom>
          <a:ln w="0">
            <a:noFill/>
          </a:ln>
        </p:spPr>
      </p:sp>
      <p:sp>
        <p:nvSpPr>
          <p:cNvPr id="83" name="PlaceHolder 2"/>
          <p:cNvSpPr>
            <a:spLocks noGrp="1"/>
          </p:cNvSpPr>
          <p:nvPr>
            <p:ph type="body"/>
          </p:nvPr>
        </p:nvSpPr>
        <p:spPr>
          <a:xfrm>
            <a:off x="720000" y="5220000"/>
            <a:ext cx="6083280" cy="4633200"/>
          </a:xfrm>
          <a:prstGeom prst="rect">
            <a:avLst/>
          </a:prstGeom>
          <a:noFill/>
          <a:ln w="0">
            <a:noFill/>
          </a:ln>
        </p:spPr>
        <p:txBody>
          <a:bodyPr lIns="0" rIns="0" tIns="0" bIns="0" anchor="t">
            <a:noAutofit/>
          </a:bodyPr>
          <a:p>
            <a:pPr indent="0">
              <a:lnSpc>
                <a:spcPct val="100000"/>
              </a:lnSpc>
              <a:buNone/>
              <a:tabLst>
                <a:tab algn="l" pos="0"/>
              </a:tabLst>
            </a:pPr>
            <a:r>
              <a:rPr b="0" lang="it-IT" sz="2000" strike="noStrike" u="none">
                <a:solidFill>
                  <a:srgbClr val="000000"/>
                </a:solidFill>
                <a:effectLst/>
                <a:uFillTx/>
                <a:latin typeface="Arial"/>
              </a:rPr>
              <a:t>The project compared five portfolio strategies, where the  Reinforcement Learning) and the simple Equal Weight strategy significantly outperformed traditional optimization models.</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Proximal Policy Optimization performed better, the worst was the  traditional Markowitz Mean-Variance model with a lower return of 428.9%, much higher risk and maximum drawdown of -57.97%.</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1. Overall Results and Findings</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project successfully compared five portfolio management strategies, revealing that AI-driven methods (specifically Reinforcement Learning) and the simple Equal Weight strategy significantly outperformed traditional optimization models. The AI strategies demonstrated superior efficiency in generating returns per unit of risk compared to the classical Markowitz model.</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Specific Example: According to the performance comparison in 2023–2024:</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Winner: The Reinforcement Learning (PPO) strategy achieved a total return of 524.92% with a maximum drawdown (loss from peak) of -42.68%.</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Loser: The traditional Markowitz Mean-Variance model significantly underperformed, generating a lower return of 428.9% while exposing the portfolio to much higher risk, with a maximum drawdown of -57.97%.</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This highlights that while the Markowitz model was profitable, it was far more vulnerable to market crashes and volatility than the AI-enhanced approaches.</a:t>
            </a:r>
            <a:endParaRPr b="0" lang="it-IT" sz="20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216360" y="812520"/>
            <a:ext cx="7126560" cy="4008600"/>
          </a:xfrm>
          <a:prstGeom prst="rect">
            <a:avLst/>
          </a:prstGeom>
          <a:ln w="0">
            <a:noFill/>
          </a:ln>
        </p:spPr>
      </p:sp>
      <p:sp>
        <p:nvSpPr>
          <p:cNvPr id="85" name="PlaceHolder 2"/>
          <p:cNvSpPr>
            <a:spLocks noGrp="1"/>
          </p:cNvSpPr>
          <p:nvPr>
            <p:ph type="body"/>
          </p:nvPr>
        </p:nvSpPr>
        <p:spPr>
          <a:xfrm>
            <a:off x="756000" y="5042520"/>
            <a:ext cx="6047280" cy="4810680"/>
          </a:xfrm>
          <a:prstGeom prst="rect">
            <a:avLst/>
          </a:prstGeom>
          <a:noFill/>
          <a:ln w="0">
            <a:noFill/>
          </a:ln>
        </p:spPr>
        <p:txBody>
          <a:bodyPr lIns="0" rIns="0" tIns="0" bIns="0" anchor="t">
            <a:noAutofit/>
          </a:bodyPr>
          <a:p>
            <a:pPr indent="0">
              <a:lnSpc>
                <a:spcPct val="100000"/>
              </a:lnSpc>
              <a:buNone/>
              <a:tabLst>
                <a:tab algn="l" pos="0"/>
              </a:tabLst>
            </a:pPr>
            <a:r>
              <a:rPr b="0" lang="it-IT" sz="2000" strike="noStrike" u="none">
                <a:solidFill>
                  <a:srgbClr val="000000"/>
                </a:solidFill>
                <a:effectLst/>
                <a:uFillTx/>
                <a:latin typeface="Arial"/>
              </a:rPr>
              <a:t>The project compared five portfolio strategies, where the  Reinforcement Learning) and the simple Equal Weight strategy significantly outperformed traditional optimization models.</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Proximal Policy Optimization performed better, the worst was the  traditional Markowitz Mean-Variance model with a lower return of 428.9%, much higher risk and maximum drawdown of -57.97%.</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1. Overall Results and Findings</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project successfully compared five portfolio management strategies, revealing that AI-driven methods (specifically Reinforcement Learning) and the simple Equal Weight strategy significantly outperformed traditional optimization models. The AI strategies demonstrated superior efficiency in generating returns per unit of risk compared to the classical Markowitz model.</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Specific Example: According to the performance comparison in 2023–2024:</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Winner: The Reinforcement Learning (PPO) strategy achieved a total return of 524.92% with a maximum drawdown (loss from peak) of -42.68%.</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Loser: The traditional Markowitz Mean-Variance model significantly underperformed, generating a lower return of 428.9% while exposing the portfolio to much higher risk, with a maximum drawdown of -57.97%.</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This highlights that while the Markowitz model was profitable, it was far more vulnerable to market crashes and volatility than the AI-enhanced approaches.</a:t>
            </a:r>
            <a:endParaRPr b="0" lang="it-IT" sz="20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216360" y="812520"/>
            <a:ext cx="7126560" cy="4008600"/>
          </a:xfrm>
          <a:prstGeom prst="rect">
            <a:avLst/>
          </a:prstGeom>
          <a:ln w="0">
            <a:noFill/>
          </a:ln>
        </p:spPr>
      </p:sp>
      <p:sp>
        <p:nvSpPr>
          <p:cNvPr id="8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Lato"/>
                <a:ea typeface="Lato"/>
              </a:rPr>
              <a:t>The weaknesses of Traditional Strategies was addressed: the AI models successfully mitigated the high volatility and drawdown risks inherent in the Markowitz model</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2000" strike="noStrike" u="none">
                <a:solidFill>
                  <a:srgbClr val="000000"/>
                </a:solidFill>
                <a:effectLst/>
                <a:uFillTx/>
                <a:latin typeface="Arial"/>
                <a:ea typeface="Lato"/>
              </a:rPr>
              <a:t>The report provides a direct comparison of five distinct models (Markowitz, Random Forest, PPO, Ensemble, and Equal Weight) using metrics like Sharpe Ratio, CAGR, and Volatility.</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2000" strike="noStrike" u="none">
                <a:solidFill>
                  <a:srgbClr val="000000"/>
                </a:solidFill>
                <a:effectLst/>
                <a:uFillTx/>
                <a:latin typeface="Arial"/>
                <a:ea typeface="Microsoft YaHei"/>
              </a:rPr>
              <a:t>About novelity, The project contributes by implementing and testing non-traditional strategies, specifically Proximal Policy Optimization (PPO) in Reinforcement Learning and a Dynamic Switching Hybrid Ensemble, which are rarely compared side-by-side with classical models in such a direct manner.</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2. Achievement of Initial Goals</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The project successfully met its three primary objectives outlined in the problem statement:</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Addressing Weaknesses of Traditional Strategies: The goal to "fix traditional strategies' weaknesses"  was met. The AI models successfully mitigated the high volatility and drawdown risks inherent in the Markowitz model, limiting losses to ~43% during downturns compared to Markowitz's 58%.</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Comparative Analysis: The objective to compare strategies using "standard KPI and clear plots"  was achieved. The report provides a direct comparison of five distinct models (Markowitz, Random Forest, PPO, Ensemble, and Equal Weight) using metrics like Sharpe Ratio, CAGR, and Volatility.</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Usable Codebase: The goal to produce "clear and well-documented code" for use in classrooms and trading desks was fulfilled, providing a practical foundation for future studies and implementation.</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3. Contribution to the Field of Quantitative Finance</a:t>
            </a: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This work is novel and important because it introduces "Smartportfolios," a holistic framework that challenges the traditional view of how AI adds value to investing.</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Novelty:</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Introduction of Advanced Agents: The project contributes by implementing and testing non-traditional strategies, specifically Proximal Policy Optimization (PPO) in Reinforcement Learning and a Dynamic Switching Hybrid Ensemble, which are rarely compared side-by-side with classical models in such a direct manner.</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ea typeface="Microsoft YaHei"/>
              </a:rPr>
              <a:t>Redefining AI's Role (Alpha vs. Safety): The most critical contribution is the finding that AI's superior performance was not due to "stock picking" (generating traditional alpha). Instead, the AI models largely converged with the Equal Weight strategy (correlation &gt; 0.99). This suggests the true novelty of AI in this context is its ability to identify that risk management via broad diversification is superior to complex optimization during uncertain regimes. It proves that AI excels at "preventing large losses rather than predicting large gains".</a:t>
            </a:r>
            <a:endParaRPr b="0" lang="it-IT" sz="20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360" y="812520"/>
            <a:ext cx="7126560" cy="4008600"/>
          </a:xfrm>
          <a:prstGeom prst="rect">
            <a:avLst/>
          </a:prstGeom>
          <a:ln w="0">
            <a:noFill/>
          </a:ln>
        </p:spPr>
      </p:sp>
      <p:sp>
        <p:nvSpPr>
          <p:cNvPr id="8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While this was a collaborative effort to build the Smartportfolios framework, my individual contribution focused on three key areas: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First, on the technical side, I was responsible for developing the Reinforcement Learning strategy using the Proximal Policy Optimization (PPO) algorithm. I coded the agent to interact with market dynamics, ensuring it could learn optimal allocation without overfitting. This was a crucial component, as the PPO model ultimately emerged as the project's top performer, delivering superior returns and risk management compared to the Markowitz baseline.</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Second, in terms of management, I co-led the project and managed the GitHub repository. I ensured our codebase remained modular and clean, directly addressing our objective to provide a reference-quality tool for future classrooms.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Finally, I managed the documentation and submission. with contribution to report writing, application of the specific formatting requirements and validation of the final report, ensuring our submission to the WQU website was complete and professional."</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216360" y="812520"/>
            <a:ext cx="7126560" cy="4008600"/>
          </a:xfrm>
          <a:prstGeom prst="rect">
            <a:avLst/>
          </a:prstGeom>
          <a:ln w="0">
            <a:noFill/>
          </a:ln>
        </p:spPr>
      </p:sp>
      <p:sp>
        <p:nvSpPr>
          <p:cNvPr id="9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In conclusion, we met all our project goals.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First, the results are clear: AI beat tradition. While the classic Markowitz model suffered from high volatility and a 58% drawdown , our Reinforcement Learning agent adapted to the market, achieving the highest returns of 525%.</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Second, we discovered how AI adds value. It didn't try to predict 'winning stocks'; instead, it focused on risk management, avoiding the concentration risks that caused the traditional model to fail.</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Finally, we successfully delivered a fully documented framework that serves as a robust foundation for future MScFE students.</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360" y="812520"/>
            <a:ext cx="7126560" cy="4008600"/>
          </a:xfrm>
          <a:prstGeom prst="rect">
            <a:avLst/>
          </a:prstGeom>
          <a:ln w="0">
            <a:noFill/>
          </a:ln>
        </p:spPr>
      </p:sp>
      <p:sp>
        <p:nvSpPr>
          <p:cNvPr id="9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While our project established a solid framework for AI-driven portfolios, there are clear avenues for future research:</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First, we must address real-world frictions. Our current backtest assumes a simplified cost model. Future work should include transaction fees and slippage to ensure the high turnover of AI strategies remains profitable in practice.</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Second, we need to stress-test the models. Our analysis was limited to a two-year sample period. Extending this to a full decade would allow us to see how the agents perform during prolonged recessions or stagnation.</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it-IT" sz="1000" strike="noStrike" u="none">
                <a:solidFill>
                  <a:srgbClr val="000000"/>
                </a:solidFill>
                <a:effectLst/>
                <a:uFillTx/>
                <a:latin typeface="Arial"/>
              </a:rPr>
              <a:t>Finally, we aim to enhance the input quality. We currently used mock ESG scores. Integrating live ESG data streams would allow the model to make genuine sustainable investment decisions in real-time.</a:t>
            </a:r>
            <a:endParaRPr b="0" lang="it-IT"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it-IT" sz="10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216360" y="812520"/>
            <a:ext cx="7126560" cy="4008600"/>
          </a:xfrm>
          <a:prstGeom prst="rect">
            <a:avLst/>
          </a:prstGeom>
          <a:ln w="0">
            <a:noFill/>
          </a:ln>
        </p:spPr>
      </p:sp>
      <p:sp>
        <p:nvSpPr>
          <p:cNvPr id="9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buNone/>
              <a:tabLst>
                <a:tab algn="l" pos="0"/>
              </a:tabLst>
            </a:pPr>
            <a:r>
              <a:rPr b="0" lang="it-IT" sz="2000" strike="noStrike" u="none">
                <a:solidFill>
                  <a:srgbClr val="000000"/>
                </a:solidFill>
                <a:effectLst/>
                <a:uFillTx/>
                <a:latin typeface="Arial"/>
              </a:rPr>
              <a:t>Thanks to WQU team for the support provided</a:t>
            </a:r>
            <a:endParaRPr b="0" lang="it-IT" sz="2000" strike="noStrike" u="none">
              <a:solidFill>
                <a:srgbClr val="000000"/>
              </a:solidFill>
              <a:effectLst/>
              <a:uFillTx/>
              <a:latin typeface="Arial"/>
            </a:endParaRPr>
          </a:p>
          <a:p>
            <a:pPr indent="0">
              <a:lnSpc>
                <a:spcPct val="100000"/>
              </a:lnSpc>
              <a:buNone/>
              <a:tabLst>
                <a:tab algn="l" pos="0"/>
              </a:tabLst>
            </a:pPr>
            <a:endParaRPr b="0" lang="it-IT" sz="2000" strike="noStrike" u="none">
              <a:solidFill>
                <a:srgbClr val="000000"/>
              </a:solidFill>
              <a:effectLst/>
              <a:uFillTx/>
              <a:latin typeface="Arial"/>
            </a:endParaRPr>
          </a:p>
          <a:p>
            <a:pPr indent="0">
              <a:lnSpc>
                <a:spcPct val="100000"/>
              </a:lnSpc>
              <a:buNone/>
              <a:tabLst>
                <a:tab algn="l" pos="0"/>
              </a:tabLst>
            </a:pPr>
            <a:r>
              <a:rPr b="0" lang="it-IT" sz="2000" strike="noStrike" u="none">
                <a:solidFill>
                  <a:srgbClr val="000000"/>
                </a:solidFill>
                <a:effectLst/>
                <a:uFillTx/>
                <a:latin typeface="Arial"/>
              </a:rPr>
              <a:t>You can contact us via email and find all the code and reports in the github report</a:t>
            </a:r>
            <a:endParaRPr b="0" lang="it-IT"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2 1 1 2 1">
    <p:bg>
      <p:bgPr>
        <a:blipFill rotWithShape="0">
          <a:blip r:embed="rId2"/>
          <a:stretch/>
        </a:blipFill>
      </p:bgPr>
    </p:bg>
    <p:spTree>
      <p:nvGrpSpPr>
        <p:cNvPr id="1" name=""/>
        <p:cNvGrpSpPr/>
        <p:nvPr/>
      </p:nvGrpSpPr>
      <p:grpSpPr>
        <a:xfrm>
          <a:off x="0" y="0"/>
          <a:ext cx="0" cy="0"/>
          <a:chOff x="0" y="0"/>
          <a:chExt cx="0" cy="0"/>
        </a:xfrm>
      </p:grpSpPr>
      <p:sp>
        <p:nvSpPr>
          <p:cNvPr id="0"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chemeClr val="lt1"/>
                </a:solidFill>
                <a:effectLst/>
                <a:uFillTx/>
                <a:latin typeface="Arial"/>
                <a:ea typeface="Arial"/>
              </a:rPr>
              <a:t>© 2021 WorldQuant University. All Rights Reserved</a:t>
            </a:r>
            <a:endParaRPr b="0" lang="it-IT" sz="900" strike="noStrike" u="none">
              <a:solidFill>
                <a:srgbClr val="ffffff"/>
              </a:solidFill>
              <a:effectLst/>
              <a:uFillTx/>
              <a:latin typeface="Arial"/>
            </a:endParaRPr>
          </a:p>
        </p:txBody>
      </p:sp>
      <p:sp>
        <p:nvSpPr>
          <p:cNvPr id="1" name="PlaceHolder 1"/>
          <p:cNvSpPr>
            <a:spLocks noGrp="1"/>
          </p:cNvSpPr>
          <p:nvPr>
            <p:ph type="title"/>
          </p:nvPr>
        </p:nvSpPr>
        <p:spPr>
          <a:xfrm>
            <a:off x="989640" y="1608120"/>
            <a:ext cx="7163640" cy="1542240"/>
          </a:xfrm>
          <a:prstGeom prst="rect">
            <a:avLst/>
          </a:prstGeom>
          <a:noFill/>
          <a:ln w="0">
            <a:noFill/>
          </a:ln>
        </p:spPr>
        <p:txBody>
          <a:bodyPr lIns="91440" rIns="91440" tIns="91440" bIns="91440" anchor="ctr">
            <a:noAutofit/>
          </a:bodyPr>
          <a:p>
            <a:pPr indent="0" algn="ctr">
              <a:lnSpc>
                <a:spcPct val="100000"/>
              </a:lnSpc>
              <a:buNone/>
              <a:tabLst>
                <a:tab algn="l" pos="0"/>
              </a:tabLst>
            </a:pPr>
            <a:r>
              <a:rPr b="1" lang="en-US" sz="3600" strike="noStrike" u="none">
                <a:solidFill>
                  <a:schemeClr val="lt1"/>
                </a:solidFill>
                <a:effectLst/>
                <a:uFillTx/>
                <a:latin typeface="Roboto Slab"/>
                <a:ea typeface="Roboto Slab"/>
              </a:rPr>
              <a:t>Click to add presentation title</a:t>
            </a:r>
            <a:endParaRPr b="0" lang="it-IT" sz="3600" strike="noStrike" u="none">
              <a:solidFill>
                <a:srgbClr val="ffffff"/>
              </a:solidFill>
              <a:effectLst/>
              <a:uFillTx/>
              <a:latin typeface="Arial"/>
            </a:endParaRPr>
          </a:p>
        </p:txBody>
      </p:sp>
      <p:pic>
        <p:nvPicPr>
          <p:cNvPr id="2" name="Google Shape;123;p35" descr=""/>
          <p:cNvPicPr/>
          <p:nvPr/>
        </p:nvPicPr>
        <p:blipFill>
          <a:blip r:embed="rId3"/>
          <a:stretch/>
        </p:blipFill>
        <p:spPr>
          <a:xfrm>
            <a:off x="457200" y="457200"/>
            <a:ext cx="2284920" cy="756000"/>
          </a:xfrm>
          <a:prstGeom prst="rect">
            <a:avLst/>
          </a:prstGeom>
          <a:noFill/>
          <a:ln w="0">
            <a:noFill/>
          </a:ln>
        </p:spPr>
      </p:pic>
      <p:sp>
        <p:nvSpPr>
          <p:cNvPr id="3" name="PlaceHolder 2"/>
          <p:cNvSpPr>
            <a:spLocks noGrp="1"/>
          </p:cNvSpPr>
          <p:nvPr>
            <p:ph type="body"/>
          </p:nvPr>
        </p:nvSpPr>
        <p:spPr>
          <a:xfrm>
            <a:off x="5623920" y="4166640"/>
            <a:ext cx="3085560" cy="253080"/>
          </a:xfrm>
          <a:prstGeom prst="rect">
            <a:avLst/>
          </a:prstGeom>
          <a:noFill/>
          <a:ln w="0">
            <a:noFill/>
          </a:ln>
        </p:spPr>
        <p:txBody>
          <a:bodyPr lIns="91440" rIns="91440" tIns="91440" bIns="91440" anchor="ctr">
            <a:noAutofit/>
          </a:bodyPr>
          <a:p>
            <a:pPr marL="114480" indent="0" algn="r">
              <a:lnSpc>
                <a:spcPct val="115000"/>
              </a:lnSpc>
              <a:buNone/>
              <a:tabLst>
                <a:tab algn="l" pos="0"/>
              </a:tabLst>
            </a:pPr>
            <a:r>
              <a:rPr b="1" lang="en-US" sz="1400" strike="noStrike" u="none">
                <a:solidFill>
                  <a:srgbClr val="35efea"/>
                </a:solidFill>
                <a:effectLst/>
                <a:uFillTx/>
                <a:latin typeface="Roboto Slab"/>
                <a:ea typeface="Roboto Slab"/>
              </a:rPr>
              <a:t>Click to add your name</a:t>
            </a:r>
            <a:endParaRPr b="0" lang="it-IT" sz="1400" strike="noStrike" u="none">
              <a:solidFill>
                <a:srgbClr val="ffffff"/>
              </a:solidFill>
              <a:effectLst/>
              <a:uFillTx/>
              <a:latin typeface="Arial"/>
            </a:endParaRPr>
          </a:p>
        </p:txBody>
      </p:sp>
      <p:sp>
        <p:nvSpPr>
          <p:cNvPr id="4" name="PlaceHolder 3"/>
          <p:cNvSpPr>
            <a:spLocks noGrp="1"/>
          </p:cNvSpPr>
          <p:nvPr>
            <p:ph type="body"/>
          </p:nvPr>
        </p:nvSpPr>
        <p:spPr>
          <a:xfrm>
            <a:off x="5623920" y="4550400"/>
            <a:ext cx="3085560" cy="253080"/>
          </a:xfrm>
          <a:prstGeom prst="rect">
            <a:avLst/>
          </a:prstGeom>
          <a:noFill/>
          <a:ln w="0">
            <a:noFill/>
          </a:ln>
        </p:spPr>
        <p:txBody>
          <a:bodyPr lIns="91440" rIns="91440" tIns="91440" bIns="91440" anchor="ctr">
            <a:noAutofit/>
          </a:bodyPr>
          <a:p>
            <a:pPr marL="114480" indent="0" algn="r">
              <a:lnSpc>
                <a:spcPct val="115000"/>
              </a:lnSpc>
              <a:buNone/>
              <a:tabLst>
                <a:tab algn="l" pos="0"/>
              </a:tabLst>
            </a:pPr>
            <a:r>
              <a:rPr b="0" i="1" lang="en-US" sz="1100" strike="noStrike" u="none">
                <a:solidFill>
                  <a:srgbClr val="35efea"/>
                </a:solidFill>
                <a:effectLst/>
                <a:uFillTx/>
                <a:latin typeface="Lato"/>
                <a:ea typeface="Roboto Slab"/>
              </a:rPr>
              <a:t>Click to add  date of presentation</a:t>
            </a:r>
            <a:endParaRPr b="0" lang="it-IT" sz="1100" strike="noStrike" u="non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2 1 1">
    <p:bg>
      <p:bgPr>
        <a:blipFill rotWithShape="0">
          <a:blip r:embed="rId2"/>
          <a:stretch/>
        </a:blipFill>
      </p:bgPr>
    </p:bg>
    <p:spTree>
      <p:nvGrpSpPr>
        <p:cNvPr id="1" name=""/>
        <p:cNvGrpSpPr/>
        <p:nvPr/>
      </p:nvGrpSpPr>
      <p:grpSpPr>
        <a:xfrm>
          <a:off x="0" y="0"/>
          <a:ext cx="0" cy="0"/>
          <a:chOff x="0" y="0"/>
          <a:chExt cx="0" cy="0"/>
        </a:xfrm>
      </p:grpSpPr>
      <p:sp>
        <p:nvSpPr>
          <p:cNvPr id="5"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6" name="PlaceHolder 1"/>
          <p:cNvSpPr>
            <a:spLocks noGrp="1"/>
          </p:cNvSpPr>
          <p:nvPr>
            <p:ph type="sldNum" idx="1"/>
          </p:nvPr>
        </p:nvSpPr>
        <p:spPr>
          <a:xfrm>
            <a:off x="4309560" y="4480560"/>
            <a:ext cx="524520" cy="392760"/>
          </a:xfrm>
          <a:prstGeom prst="rect">
            <a:avLst/>
          </a:prstGeom>
          <a:noFill/>
          <a:ln w="0">
            <a:noFill/>
          </a:ln>
        </p:spPr>
        <p:txBody>
          <a:bodyPr lIns="91440" rIns="91440" tIns="91440" bIns="91440" anchor="ctr">
            <a:noAutofit/>
          </a:bodyPr>
          <a:lstStyle>
            <a:lvl1pPr indent="0" algn="ctr">
              <a:lnSpc>
                <a:spcPct val="100000"/>
              </a:lnSpc>
              <a:buNone/>
              <a:tabLst>
                <a:tab algn="l" pos="0"/>
              </a:tabLst>
              <a:defRPr b="0" lang="en" sz="1400" strike="noStrike" u="none">
                <a:solidFill>
                  <a:srgbClr val="1f1749"/>
                </a:solidFill>
                <a:effectLst/>
                <a:uFillTx/>
                <a:latin typeface="Lato"/>
                <a:ea typeface="Arial"/>
              </a:defRPr>
            </a:lvl1pPr>
          </a:lstStyle>
          <a:p>
            <a:pPr indent="0" algn="ctr">
              <a:lnSpc>
                <a:spcPct val="100000"/>
              </a:lnSpc>
              <a:buNone/>
              <a:tabLst>
                <a:tab algn="l" pos="0"/>
              </a:tabLst>
            </a:pPr>
            <a:fld id="{0387548D-123B-448F-A8B2-DB9682B0733C}" type="slidenum">
              <a:rPr b="0" lang="en" sz="1400" strike="noStrike" u="none">
                <a:solidFill>
                  <a:srgbClr val="1f1749"/>
                </a:solidFill>
                <a:effectLst/>
                <a:uFillTx/>
                <a:latin typeface="Lato"/>
                <a:ea typeface="Arial"/>
              </a:rPr>
              <a:t>7</a:t>
            </a:fld>
            <a:endParaRPr b="0" lang="it-IT" sz="1400" strike="noStrike" u="none">
              <a:solidFill>
                <a:srgbClr val="000000"/>
              </a:solidFill>
              <a:effectLst/>
              <a:uFillTx/>
              <a:latin typeface="Times New Roman"/>
            </a:endParaRPr>
          </a:p>
        </p:txBody>
      </p:sp>
      <p:sp>
        <p:nvSpPr>
          <p:cNvPr id="7" name="PlaceHolder 2"/>
          <p:cNvSpPr>
            <a:spLocks noGrp="1"/>
          </p:cNvSpPr>
          <p:nvPr>
            <p:ph type="title"/>
          </p:nvPr>
        </p:nvSpPr>
        <p:spPr>
          <a:xfrm>
            <a:off x="236520" y="447480"/>
            <a:ext cx="2305440" cy="1514520"/>
          </a:xfrm>
          <a:prstGeom prst="rect">
            <a:avLst/>
          </a:prstGeom>
          <a:noFill/>
          <a:ln w="0">
            <a:noFill/>
          </a:ln>
        </p:spPr>
        <p:txBody>
          <a:bodyPr lIns="91440" rIns="91440" tIns="91440" bIns="91440" anchor="ctr">
            <a:noAutofit/>
          </a:bodyPr>
          <a:p>
            <a:pPr indent="0" algn="ctr">
              <a:lnSpc>
                <a:spcPct val="100000"/>
              </a:lnSpc>
              <a:buNone/>
              <a:tabLst>
                <a:tab algn="l" pos="0"/>
              </a:tabLst>
            </a:pPr>
            <a:r>
              <a:rPr b="1" lang="en-US" sz="3600" strike="noStrike" u="none">
                <a:solidFill>
                  <a:srgbClr val="1f1749"/>
                </a:solidFill>
                <a:effectLst/>
                <a:uFillTx/>
                <a:latin typeface="Roboto Slab"/>
                <a:ea typeface="Roboto Slab"/>
              </a:rPr>
              <a:t>Click to add “Group #”</a:t>
            </a:r>
            <a:endParaRPr b="0" lang="it-IT" sz="3600" strike="noStrike" u="none">
              <a:solidFill>
                <a:srgbClr val="000000"/>
              </a:solidFill>
              <a:effectLst/>
              <a:uFillTx/>
              <a:latin typeface="Arial"/>
            </a:endParaRPr>
          </a:p>
        </p:txBody>
      </p:sp>
      <p:sp>
        <p:nvSpPr>
          <p:cNvPr id="8" name="PlaceHolder 3"/>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it-IT" sz="1400" strike="noStrike" u="none">
                <a:solidFill>
                  <a:srgbClr val="000000"/>
                </a:solidFill>
                <a:effectLst/>
                <a:uFillTx/>
                <a:latin typeface="Arial"/>
              </a:rPr>
              <a:t>Fai clic per modificare il formato del testo della struttura</a:t>
            </a:r>
            <a:endParaRPr b="0" lang="it-IT" sz="1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1400" strike="noStrike" u="none">
                <a:solidFill>
                  <a:srgbClr val="000000"/>
                </a:solidFill>
                <a:effectLst/>
                <a:uFillTx/>
                <a:latin typeface="Arial"/>
              </a:rPr>
              <a:t>Secondo livello struttura</a:t>
            </a:r>
            <a:endParaRPr b="0" lang="it-IT" sz="1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it-IT" sz="1400" strike="noStrike" u="none">
                <a:solidFill>
                  <a:srgbClr val="000000"/>
                </a:solidFill>
                <a:effectLst/>
                <a:uFillTx/>
                <a:latin typeface="Arial"/>
              </a:rPr>
              <a:t>Terzo livello struttura</a:t>
            </a:r>
            <a:endParaRPr b="0" lang="it-IT" sz="1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it-IT" sz="1400" strike="noStrike" u="none">
                <a:solidFill>
                  <a:srgbClr val="000000"/>
                </a:solidFill>
                <a:effectLst/>
                <a:uFillTx/>
                <a:latin typeface="Arial"/>
              </a:rPr>
              <a:t>Quarto livello struttura</a:t>
            </a:r>
            <a:endParaRPr b="0" lang="it-IT"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Quinto livello struttura</a:t>
            </a:r>
            <a:endParaRPr b="0" lang="it-IT"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Sesto livello struttura</a:t>
            </a:r>
            <a:endParaRPr b="0" lang="it-IT"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Settimo livello struttura</a:t>
            </a:r>
            <a:endParaRPr b="0" lang="it-IT"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body">
    <p:bg>
      <p:bgPr>
        <a:blipFill rotWithShape="0">
          <a:blip r:embed="rId2"/>
          <a:stretch/>
        </a:blipFill>
      </p:bgPr>
    </p:bg>
    <p:spTree>
      <p:nvGrpSpPr>
        <p:cNvPr id="1" name=""/>
        <p:cNvGrpSpPr/>
        <p:nvPr/>
      </p:nvGrpSpPr>
      <p:grpSpPr>
        <a:xfrm>
          <a:off x="0" y="0"/>
          <a:ext cx="0" cy="0"/>
          <a:chOff x="0" y="0"/>
          <a:chExt cx="0" cy="0"/>
        </a:xfrm>
      </p:grpSpPr>
      <p:sp>
        <p:nvSpPr>
          <p:cNvPr id="9"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10"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Click to add graph/chart title</a:t>
            </a:r>
            <a:endParaRPr b="0" lang="it-IT" sz="2800" strike="noStrike" u="none">
              <a:solidFill>
                <a:srgbClr val="000000"/>
              </a:solidFill>
              <a:effectLst/>
              <a:uFillTx/>
              <a:latin typeface="Arial"/>
            </a:endParaRPr>
          </a:p>
        </p:txBody>
      </p:sp>
      <p:sp>
        <p:nvSpPr>
          <p:cNvPr id="11" name="TextBox 9"/>
          <p:cNvSpPr/>
          <p:nvPr/>
        </p:nvSpPr>
        <p:spPr>
          <a:xfrm>
            <a:off x="8460360" y="4388040"/>
            <a:ext cx="409320" cy="30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fld id="{D9D5CA55-542B-4DB3-BA9D-977AD306B620}" type="slidenum">
              <a:rPr b="0" lang="en-US" sz="1400" strike="noStrike" u="none">
                <a:solidFill>
                  <a:srgbClr val="000000"/>
                </a:solidFill>
                <a:effectLst/>
                <a:uFillTx/>
                <a:latin typeface="Arial"/>
                <a:ea typeface="Arial"/>
              </a:rPr>
              <a:t>&lt;numero&gt;</a:t>
            </a:fld>
            <a:endParaRPr b="0" lang="it-IT" sz="1400" strike="noStrike" u="none">
              <a:solidFill>
                <a:srgbClr val="000000"/>
              </a:solidFill>
              <a:effectLst/>
              <a:uFillTx/>
              <a:latin typeface="Arial"/>
            </a:endParaRPr>
          </a:p>
        </p:txBody>
      </p:sp>
      <p:sp>
        <p:nvSpPr>
          <p:cNvPr id="12"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it-IT" sz="1400" strike="noStrike" u="none">
                <a:solidFill>
                  <a:srgbClr val="000000"/>
                </a:solidFill>
                <a:effectLst/>
                <a:uFillTx/>
                <a:latin typeface="Arial"/>
              </a:rPr>
              <a:t>Fai clic per modificare il formato del testo della struttura</a:t>
            </a:r>
            <a:endParaRPr b="0" lang="it-IT" sz="1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1400" strike="noStrike" u="none">
                <a:solidFill>
                  <a:srgbClr val="000000"/>
                </a:solidFill>
                <a:effectLst/>
                <a:uFillTx/>
                <a:latin typeface="Arial"/>
              </a:rPr>
              <a:t>Secondo livello struttura</a:t>
            </a:r>
            <a:endParaRPr b="0" lang="it-IT" sz="1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it-IT" sz="1400" strike="noStrike" u="none">
                <a:solidFill>
                  <a:srgbClr val="000000"/>
                </a:solidFill>
                <a:effectLst/>
                <a:uFillTx/>
                <a:latin typeface="Arial"/>
              </a:rPr>
              <a:t>Terzo livello struttura</a:t>
            </a:r>
            <a:endParaRPr b="0" lang="it-IT" sz="1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it-IT" sz="1400" strike="noStrike" u="none">
                <a:solidFill>
                  <a:srgbClr val="000000"/>
                </a:solidFill>
                <a:effectLst/>
                <a:uFillTx/>
                <a:latin typeface="Arial"/>
              </a:rPr>
              <a:t>Quarto livello struttura</a:t>
            </a:r>
            <a:endParaRPr b="0" lang="it-IT"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Quinto livello struttura</a:t>
            </a:r>
            <a:endParaRPr b="0" lang="it-IT"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Sesto livello struttura</a:t>
            </a:r>
            <a:endParaRPr b="0" lang="it-IT"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Settimo livello struttura</a:t>
            </a:r>
            <a:endParaRPr b="0" lang="it-IT"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body">
    <p:bg>
      <p:bgPr>
        <a:blipFill rotWithShape="0">
          <a:blip r:embed="rId2"/>
          <a:stretch/>
        </a:blipFill>
      </p:bgPr>
    </p:bg>
    <p:spTree>
      <p:nvGrpSpPr>
        <p:cNvPr id="1" name=""/>
        <p:cNvGrpSpPr/>
        <p:nvPr/>
      </p:nvGrpSpPr>
      <p:grpSpPr>
        <a:xfrm>
          <a:off x="0" y="0"/>
          <a:ext cx="0" cy="0"/>
          <a:chOff x="0" y="0"/>
          <a:chExt cx="0" cy="0"/>
        </a:xfrm>
      </p:grpSpPr>
      <p:sp>
        <p:nvSpPr>
          <p:cNvPr id="13"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14"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Click to add slide title</a:t>
            </a:r>
            <a:endParaRPr b="0" lang="it-IT" sz="2800" strike="noStrike" u="none">
              <a:solidFill>
                <a:srgbClr val="000000"/>
              </a:solidFill>
              <a:effectLst/>
              <a:uFillTx/>
              <a:latin typeface="Arial"/>
            </a:endParaRPr>
          </a:p>
        </p:txBody>
      </p:sp>
      <p:sp>
        <p:nvSpPr>
          <p:cNvPr id="15" name="PlaceHolder 2"/>
          <p:cNvSpPr>
            <a:spLocks noGrp="1"/>
          </p:cNvSpPr>
          <p:nvPr>
            <p:ph type="body"/>
          </p:nvPr>
        </p:nvSpPr>
        <p:spPr>
          <a:xfrm>
            <a:off x="365760" y="1354320"/>
            <a:ext cx="8519760" cy="2953440"/>
          </a:xfrm>
          <a:prstGeom prst="rect">
            <a:avLst/>
          </a:prstGeom>
          <a:noFill/>
          <a:ln w="0">
            <a:noFill/>
          </a:ln>
        </p:spPr>
        <p:txBody>
          <a:bodyPr lIns="91440" rIns="91440" tIns="91440" bIns="91440" anchor="t">
            <a:noAutofit/>
          </a:bodyPr>
          <a:p>
            <a:pPr marL="432000" indent="-324000">
              <a:lnSpc>
                <a:spcPct val="100000"/>
              </a:lnSpc>
              <a:spcBef>
                <a:spcPts val="1417"/>
              </a:spcBef>
              <a:buClr>
                <a:srgbClr val="000000"/>
              </a:buClr>
              <a:buSzPct val="45000"/>
              <a:buFont typeface="Wingdings" charset="2"/>
              <a:buChar char=""/>
            </a:pPr>
            <a:r>
              <a:rPr b="0" lang="it-IT" sz="2000" strike="noStrike" u="none">
                <a:solidFill>
                  <a:srgbClr val="000000"/>
                </a:solidFill>
                <a:effectLst/>
                <a:uFillTx/>
                <a:latin typeface="Arial"/>
              </a:rPr>
              <a:t>Fai clic per modificare il formato del testo della struttura</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2000" strike="noStrike" u="none">
                <a:solidFill>
                  <a:srgbClr val="000000"/>
                </a:solidFill>
                <a:effectLst/>
                <a:uFillTx/>
                <a:latin typeface="Arial"/>
              </a:rPr>
              <a:t>Secondo livello struttura</a:t>
            </a:r>
            <a:endParaRPr b="0" lang="it-IT" sz="20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it-IT" sz="2000" strike="noStrike" u="none">
                <a:solidFill>
                  <a:srgbClr val="000000"/>
                </a:solidFill>
                <a:effectLst/>
                <a:uFillTx/>
                <a:latin typeface="Arial"/>
              </a:rPr>
              <a:t>Terzo livello struttura</a:t>
            </a:r>
            <a:endParaRPr b="0" lang="it-IT"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it-IT" sz="2000" strike="noStrike" u="none">
                <a:solidFill>
                  <a:srgbClr val="000000"/>
                </a:solidFill>
                <a:effectLst/>
                <a:uFillTx/>
                <a:latin typeface="Arial"/>
              </a:rPr>
              <a:t>Quarto livello struttura</a:t>
            </a:r>
            <a:endParaRPr b="0" lang="it-IT"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Quinto livello struttura</a:t>
            </a:r>
            <a:endParaRPr b="0" lang="it-IT"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Sesto livello struttura</a:t>
            </a:r>
            <a:endParaRPr b="0" lang="it-IT"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Settimo livello struttura</a:t>
            </a:r>
            <a:endParaRPr b="0" lang="it-IT" sz="2000" strike="noStrike" u="none">
              <a:solidFill>
                <a:srgbClr val="000000"/>
              </a:solidFill>
              <a:effectLst/>
              <a:uFillTx/>
              <a:latin typeface="Arial"/>
            </a:endParaRPr>
          </a:p>
        </p:txBody>
      </p:sp>
      <p:sp>
        <p:nvSpPr>
          <p:cNvPr id="16" name="TextBox 5"/>
          <p:cNvSpPr/>
          <p:nvPr/>
        </p:nvSpPr>
        <p:spPr>
          <a:xfrm>
            <a:off x="8460360" y="4388040"/>
            <a:ext cx="409320" cy="30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fld id="{26DC2C08-89FD-42D8-82B1-0F52234A6201}" type="slidenum">
              <a:rPr b="0" lang="en-US" sz="1400" strike="noStrike" u="none">
                <a:solidFill>
                  <a:srgbClr val="000000"/>
                </a:solidFill>
                <a:effectLst/>
                <a:uFillTx/>
                <a:latin typeface="Arial"/>
                <a:ea typeface="Arial"/>
              </a:rPr>
              <a:t>&lt;numero&gt;</a:t>
            </a:fld>
            <a:endParaRPr b="0" lang="it-IT" sz="14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1">
    <p:bg>
      <p:bgPr>
        <a:blipFill rotWithShape="0">
          <a:blip r:embed="rId2"/>
          <a:stretch/>
        </a:blipFill>
      </p:bgPr>
    </p:bg>
    <p:spTree>
      <p:nvGrpSpPr>
        <p:cNvPr id="1" name=""/>
        <p:cNvGrpSpPr/>
        <p:nvPr/>
      </p:nvGrpSpPr>
      <p:grpSpPr>
        <a:xfrm>
          <a:off x="0" y="0"/>
          <a:ext cx="0" cy="0"/>
          <a:chOff x="0" y="0"/>
          <a:chExt cx="0" cy="0"/>
        </a:xfrm>
      </p:grpSpPr>
      <p:sp>
        <p:nvSpPr>
          <p:cNvPr id="17"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18" name="PlaceHolder 1"/>
          <p:cNvSpPr>
            <a:spLocks noGrp="1"/>
          </p:cNvSpPr>
          <p:nvPr>
            <p:ph type="body"/>
          </p:nvPr>
        </p:nvSpPr>
        <p:spPr>
          <a:xfrm>
            <a:off x="746640" y="1217160"/>
            <a:ext cx="6986880" cy="3112920"/>
          </a:xfrm>
          <a:prstGeom prst="rect">
            <a:avLst/>
          </a:prstGeom>
          <a:noFill/>
          <a:ln w="0">
            <a:noFill/>
          </a:ln>
        </p:spPr>
        <p:txBody>
          <a:bodyPr lIns="91440" rIns="91440" tIns="91440" bIns="91440" anchor="t">
            <a:noAutofit/>
          </a:bodyPr>
          <a:p>
            <a:pPr marL="432000" indent="-324000">
              <a:lnSpc>
                <a:spcPct val="100000"/>
              </a:lnSpc>
              <a:spcBef>
                <a:spcPts val="1417"/>
              </a:spcBef>
              <a:buClr>
                <a:srgbClr val="000000"/>
              </a:buClr>
              <a:buSzPct val="45000"/>
              <a:buFont typeface="Wingdings" charset="2"/>
              <a:buChar char=""/>
            </a:pPr>
            <a:r>
              <a:rPr b="0" lang="it-IT" sz="2000" strike="noStrike" u="none">
                <a:solidFill>
                  <a:srgbClr val="000000"/>
                </a:solidFill>
                <a:effectLst/>
                <a:uFillTx/>
                <a:latin typeface="Arial"/>
              </a:rPr>
              <a:t>Fai clic per modificare il formato del testo della struttura</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it-IT" sz="2000" strike="noStrike" u="none">
                <a:solidFill>
                  <a:srgbClr val="000000"/>
                </a:solidFill>
                <a:effectLst/>
                <a:uFillTx/>
                <a:latin typeface="Arial"/>
              </a:rPr>
              <a:t>Secondo livello struttura</a:t>
            </a:r>
            <a:endParaRPr b="0" lang="it-IT" sz="20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it-IT" sz="2000" strike="noStrike" u="none">
                <a:solidFill>
                  <a:srgbClr val="000000"/>
                </a:solidFill>
                <a:effectLst/>
                <a:uFillTx/>
                <a:latin typeface="Arial"/>
              </a:rPr>
              <a:t>Terzo livello struttura</a:t>
            </a:r>
            <a:endParaRPr b="0" lang="it-IT"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it-IT" sz="2000" strike="noStrike" u="none">
                <a:solidFill>
                  <a:srgbClr val="000000"/>
                </a:solidFill>
                <a:effectLst/>
                <a:uFillTx/>
                <a:latin typeface="Arial"/>
              </a:rPr>
              <a:t>Quarto livello struttura</a:t>
            </a:r>
            <a:endParaRPr b="0" lang="it-IT"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Quinto livello struttura</a:t>
            </a:r>
            <a:endParaRPr b="0" lang="it-IT"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Sesto livello struttura</a:t>
            </a:r>
            <a:endParaRPr b="0" lang="it-IT"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it-IT" sz="2000" strike="noStrike" u="none">
                <a:solidFill>
                  <a:srgbClr val="000000"/>
                </a:solidFill>
                <a:effectLst/>
                <a:uFillTx/>
                <a:latin typeface="Arial"/>
              </a:rPr>
              <a:t>Settimo livello struttura</a:t>
            </a:r>
            <a:endParaRPr b="0" lang="it-IT" sz="2000" strike="noStrike" u="none">
              <a:solidFill>
                <a:srgbClr val="000000"/>
              </a:solidFill>
              <a:effectLst/>
              <a:uFillTx/>
              <a:latin typeface="Arial"/>
            </a:endParaRPr>
          </a:p>
        </p:txBody>
      </p:sp>
      <p:sp>
        <p:nvSpPr>
          <p:cNvPr id="19" name="PlaceHolder 2"/>
          <p:cNvSpPr>
            <a:spLocks noGrp="1"/>
          </p:cNvSpPr>
          <p:nvPr>
            <p:ph type="title"/>
          </p:nvPr>
        </p:nvSpPr>
        <p:spPr>
          <a:xfrm>
            <a:off x="311760" y="4006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Click to add slide title</a:t>
            </a:r>
            <a:endParaRPr b="0" lang="it-IT" sz="2800" strike="noStrike" u="none">
              <a:solidFill>
                <a:srgbClr val="000000"/>
              </a:solidFill>
              <a:effectLst/>
              <a:uFillTx/>
              <a:latin typeface="Arial"/>
            </a:endParaRPr>
          </a:p>
        </p:txBody>
      </p:sp>
      <p:sp>
        <p:nvSpPr>
          <p:cNvPr id="20" name="TextBox 8"/>
          <p:cNvSpPr/>
          <p:nvPr/>
        </p:nvSpPr>
        <p:spPr>
          <a:xfrm>
            <a:off x="8460360" y="4388040"/>
            <a:ext cx="409320" cy="30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fld id="{FF127022-4C07-4A94-9D7D-7B9782286CCE}" type="slidenum">
              <a:rPr b="0" lang="en-US" sz="1400" strike="noStrike" u="none">
                <a:solidFill>
                  <a:srgbClr val="000000"/>
                </a:solidFill>
                <a:effectLst/>
                <a:uFillTx/>
                <a:latin typeface="Arial"/>
                <a:ea typeface="Arial"/>
              </a:rPr>
              <a:t>&lt;numero&gt;</a:t>
            </a:fld>
            <a:endParaRPr b="0" lang="it-IT" sz="14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2 1 1 1">
    <p:bg>
      <p:bgPr>
        <a:blipFill rotWithShape="0">
          <a:blip r:embed="rId2">
            <a:alphaModFix amt="83000"/>
          </a:blip>
          <a:stretch/>
        </a:blipFill>
      </p:bgPr>
    </p:bg>
    <p:spTree>
      <p:nvGrpSpPr>
        <p:cNvPr id="1" name=""/>
        <p:cNvGrpSpPr/>
        <p:nvPr/>
      </p:nvGrpSpPr>
      <p:grpSpPr>
        <a:xfrm>
          <a:off x="0" y="0"/>
          <a:ext cx="0" cy="0"/>
          <a:chOff x="0" y="0"/>
          <a:chExt cx="0" cy="0"/>
        </a:xfrm>
      </p:grpSpPr>
      <p:sp>
        <p:nvSpPr>
          <p:cNvPr id="21"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22" name="PlaceHolder 1"/>
          <p:cNvSpPr>
            <a:spLocks noGrp="1"/>
          </p:cNvSpPr>
          <p:nvPr>
            <p:ph type="sldNum" idx="2"/>
          </p:nvPr>
        </p:nvSpPr>
        <p:spPr>
          <a:xfrm>
            <a:off x="4309560" y="4480560"/>
            <a:ext cx="524520" cy="392760"/>
          </a:xfrm>
          <a:prstGeom prst="rect">
            <a:avLst/>
          </a:prstGeom>
          <a:noFill/>
          <a:ln w="0">
            <a:noFill/>
          </a:ln>
        </p:spPr>
        <p:txBody>
          <a:bodyPr lIns="91440" rIns="91440" tIns="91440" bIns="91440" anchor="ctr">
            <a:noAutofit/>
          </a:bodyPr>
          <a:lstStyle>
            <a:lvl1pPr indent="0" algn="ctr">
              <a:lnSpc>
                <a:spcPct val="100000"/>
              </a:lnSpc>
              <a:buNone/>
              <a:tabLst>
                <a:tab algn="l" pos="0"/>
              </a:tabLst>
              <a:defRPr b="0" lang="en" sz="1400" strike="noStrike" u="none">
                <a:solidFill>
                  <a:srgbClr val="1f1749"/>
                </a:solidFill>
                <a:effectLst/>
                <a:uFillTx/>
                <a:latin typeface="Lato"/>
                <a:ea typeface="Arial"/>
              </a:defRPr>
            </a:lvl1pPr>
          </a:lstStyle>
          <a:p>
            <a:pPr indent="0" algn="ctr">
              <a:lnSpc>
                <a:spcPct val="100000"/>
              </a:lnSpc>
              <a:buNone/>
              <a:tabLst>
                <a:tab algn="l" pos="0"/>
              </a:tabLst>
            </a:pPr>
            <a:fld id="{895EECC6-CD07-42CD-9E6E-99AB121B1B00}" type="slidenum">
              <a:rPr b="0" lang="en" sz="1400" strike="noStrike" u="none">
                <a:solidFill>
                  <a:srgbClr val="1f1749"/>
                </a:solidFill>
                <a:effectLst/>
                <a:uFillTx/>
                <a:latin typeface="Lato"/>
                <a:ea typeface="Arial"/>
              </a:rPr>
              <a:t>&lt;numero&gt;</a:t>
            </a:fld>
            <a:endParaRPr b="0" lang="it-IT" sz="1400" strike="noStrike" u="none">
              <a:solidFill>
                <a:srgbClr val="000000"/>
              </a:solidFill>
              <a:effectLst/>
              <a:uFillTx/>
              <a:latin typeface="Times New Roman"/>
            </a:endParaRPr>
          </a:p>
        </p:txBody>
      </p:sp>
      <p:pic>
        <p:nvPicPr>
          <p:cNvPr id="23" name="Google Shape;123;p35" descr=""/>
          <p:cNvPicPr/>
          <p:nvPr/>
        </p:nvPicPr>
        <p:blipFill>
          <a:blip r:embed="rId3"/>
          <a:stretch/>
        </p:blipFill>
        <p:spPr>
          <a:xfrm>
            <a:off x="6126480" y="365760"/>
            <a:ext cx="2692800" cy="901800"/>
          </a:xfrm>
          <a:prstGeom prst="rect">
            <a:avLst/>
          </a:prstGeom>
          <a:noFill/>
          <a:ln w="0">
            <a:noFill/>
          </a:ln>
        </p:spPr>
      </p:pic>
      <p:sp>
        <p:nvSpPr>
          <p:cNvPr id="24" name="PlaceHolder 2"/>
          <p:cNvSpPr>
            <a:spLocks noGrp="1"/>
          </p:cNvSpPr>
          <p:nvPr>
            <p:ph type="title"/>
          </p:nvPr>
        </p:nvSpPr>
        <p:spPr>
          <a:xfrm>
            <a:off x="365760" y="609480"/>
            <a:ext cx="544860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Click to add graph/chart title</a:t>
            </a:r>
            <a:endParaRPr b="0" lang="it-IT" sz="2800" strike="noStrike" u="none">
              <a:solidFill>
                <a:srgbClr val="000000"/>
              </a:solidFill>
              <a:effectLst/>
              <a:uFillTx/>
              <a:latin typeface="Arial"/>
            </a:endParaRPr>
          </a:p>
        </p:txBody>
      </p:sp>
      <p:sp>
        <p:nvSpPr>
          <p:cNvPr id="25" name="PlaceHolder 3"/>
          <p:cNvSpPr>
            <a:spLocks noGrp="1"/>
          </p:cNvSpPr>
          <p:nvPr>
            <p:ph type="body"/>
          </p:nvPr>
        </p:nvSpPr>
        <p:spPr>
          <a:xfrm>
            <a:off x="2044440" y="3915000"/>
            <a:ext cx="5054760" cy="257040"/>
          </a:xfrm>
          <a:prstGeom prst="rect">
            <a:avLst/>
          </a:prstGeom>
          <a:noFill/>
          <a:ln w="0">
            <a:noFill/>
          </a:ln>
        </p:spPr>
        <p:txBody>
          <a:bodyPr lIns="91440" rIns="91440" tIns="91440" bIns="91440" anchor="ctr">
            <a:noAutofit/>
          </a:bodyPr>
          <a:p>
            <a:pPr marL="114480" indent="0" algn="ctr">
              <a:lnSpc>
                <a:spcPct val="115000"/>
              </a:lnSpc>
              <a:buNone/>
              <a:tabLst>
                <a:tab algn="l" pos="0"/>
              </a:tabLst>
            </a:pPr>
            <a:r>
              <a:rPr b="1" i="1" lang="en-US" sz="1200" strike="noStrike" u="none">
                <a:solidFill>
                  <a:srgbClr val="1f1749"/>
                </a:solidFill>
                <a:effectLst/>
                <a:uFillTx/>
                <a:latin typeface="Lato"/>
                <a:ea typeface="Lato"/>
              </a:rPr>
              <a:t>Click to add description</a:t>
            </a:r>
            <a:endParaRPr b="0" lang="it-IT" sz="12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blipFill rotWithShape="0">
          <a:blip r:embed="rId2">
            <a:alphaModFix amt="83000"/>
          </a:blip>
          <a:stretch/>
        </a:blipFill>
      </p:bgPr>
    </p:bg>
    <p:spTree>
      <p:nvGrpSpPr>
        <p:cNvPr id="1" name=""/>
        <p:cNvGrpSpPr/>
        <p:nvPr/>
      </p:nvGrpSpPr>
      <p:grpSpPr>
        <a:xfrm>
          <a:off x="0" y="0"/>
          <a:ext cx="0" cy="0"/>
          <a:chOff x="0" y="0"/>
          <a:chExt cx="0" cy="0"/>
        </a:xfrm>
      </p:grpSpPr>
      <p:sp>
        <p:nvSpPr>
          <p:cNvPr id="26" name="Footer Placeholder 1"/>
          <p:cNvSpPr/>
          <p:nvPr/>
        </p:nvSpPr>
        <p:spPr>
          <a:xfrm>
            <a:off x="3029040" y="4965120"/>
            <a:ext cx="3085560" cy="116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900" strike="noStrike" u="none">
                <a:solidFill>
                  <a:srgbClr val="1f1749"/>
                </a:solidFill>
                <a:effectLst/>
                <a:uFillTx/>
                <a:latin typeface="Arial"/>
                <a:ea typeface="Arial"/>
              </a:rPr>
              <a:t>© 2021 WorldQuant University. All Rights Reserved</a:t>
            </a:r>
            <a:endParaRPr b="0" lang="it-IT" sz="900" strike="noStrike" u="none">
              <a:solidFill>
                <a:srgbClr val="000000"/>
              </a:solidFill>
              <a:effectLst/>
              <a:uFillTx/>
              <a:latin typeface="Arial"/>
            </a:endParaRPr>
          </a:p>
        </p:txBody>
      </p:sp>
      <p:sp>
        <p:nvSpPr>
          <p:cNvPr id="27" name="PlaceHolder 1"/>
          <p:cNvSpPr>
            <a:spLocks noGrp="1"/>
          </p:cNvSpPr>
          <p:nvPr>
            <p:ph type="sldNum" idx="3"/>
          </p:nvPr>
        </p:nvSpPr>
        <p:spPr>
          <a:xfrm>
            <a:off x="4309560" y="4480560"/>
            <a:ext cx="524520" cy="392760"/>
          </a:xfrm>
          <a:prstGeom prst="rect">
            <a:avLst/>
          </a:prstGeom>
          <a:noFill/>
          <a:ln w="0">
            <a:noFill/>
          </a:ln>
        </p:spPr>
        <p:txBody>
          <a:bodyPr lIns="91440" rIns="91440" tIns="91440" bIns="91440" anchor="ctr">
            <a:noAutofit/>
          </a:bodyPr>
          <a:lstStyle>
            <a:lvl1pPr indent="0" algn="ctr">
              <a:lnSpc>
                <a:spcPct val="100000"/>
              </a:lnSpc>
              <a:buNone/>
              <a:tabLst>
                <a:tab algn="l" pos="0"/>
              </a:tabLst>
              <a:defRPr b="0" lang="en" sz="1400" strike="noStrike" u="none">
                <a:solidFill>
                  <a:srgbClr val="1f1749"/>
                </a:solidFill>
                <a:effectLst/>
                <a:uFillTx/>
                <a:latin typeface="Lato"/>
                <a:ea typeface="Arial"/>
              </a:defRPr>
            </a:lvl1pPr>
          </a:lstStyle>
          <a:p>
            <a:pPr indent="0" algn="ctr">
              <a:lnSpc>
                <a:spcPct val="100000"/>
              </a:lnSpc>
              <a:buNone/>
              <a:tabLst>
                <a:tab algn="l" pos="0"/>
              </a:tabLst>
            </a:pPr>
            <a:fld id="{C98F9918-8410-4693-9FD2-72453A64DAA2}" type="slidenum">
              <a:rPr b="0" lang="en" sz="1400" strike="noStrike" u="none">
                <a:solidFill>
                  <a:srgbClr val="1f1749"/>
                </a:solidFill>
                <a:effectLst/>
                <a:uFillTx/>
                <a:latin typeface="Lato"/>
                <a:ea typeface="Arial"/>
              </a:rPr>
              <a:t>&lt;numero&gt;</a:t>
            </a:fld>
            <a:endParaRPr b="0" lang="it-IT" sz="1400" strike="noStrike" u="none">
              <a:solidFill>
                <a:srgbClr val="000000"/>
              </a:solidFill>
              <a:effectLst/>
              <a:uFillTx/>
              <a:latin typeface="Times New Roman"/>
            </a:endParaRPr>
          </a:p>
        </p:txBody>
      </p:sp>
      <p:pic>
        <p:nvPicPr>
          <p:cNvPr id="28" name="Google Shape;123;p35" descr=""/>
          <p:cNvPicPr/>
          <p:nvPr/>
        </p:nvPicPr>
        <p:blipFill>
          <a:blip r:embed="rId3"/>
          <a:stretch/>
        </p:blipFill>
        <p:spPr>
          <a:xfrm>
            <a:off x="6126480" y="365760"/>
            <a:ext cx="2692800" cy="901800"/>
          </a:xfrm>
          <a:prstGeom prst="rect">
            <a:avLst/>
          </a:prstGeom>
          <a:noFill/>
          <a:ln w="0">
            <a:noFill/>
          </a:ln>
        </p:spPr>
      </p:pic>
      <p:sp>
        <p:nvSpPr>
          <p:cNvPr id="29" name="PlaceHolder 2"/>
          <p:cNvSpPr>
            <a:spLocks noGrp="1"/>
          </p:cNvSpPr>
          <p:nvPr>
            <p:ph type="title"/>
          </p:nvPr>
        </p:nvSpPr>
        <p:spPr>
          <a:xfrm>
            <a:off x="1166040" y="1445040"/>
            <a:ext cx="6810840" cy="2252880"/>
          </a:xfrm>
          <a:prstGeom prst="rect">
            <a:avLst/>
          </a:prstGeom>
          <a:noFill/>
          <a:ln w="0">
            <a:noFill/>
          </a:ln>
        </p:spPr>
        <p:txBody>
          <a:bodyPr lIns="91440" rIns="91440" tIns="91440" bIns="91440" anchor="ctr">
            <a:noAutofit/>
          </a:bodyPr>
          <a:p>
            <a:pPr indent="0" algn="ctr">
              <a:lnSpc>
                <a:spcPct val="100000"/>
              </a:lnSpc>
              <a:buNone/>
              <a:tabLst>
                <a:tab algn="l" pos="0"/>
              </a:tabLst>
            </a:pPr>
            <a:r>
              <a:rPr b="1" lang="en-US" sz="3600" strike="noStrike" u="none">
                <a:solidFill>
                  <a:srgbClr val="1f1749"/>
                </a:solidFill>
                <a:effectLst/>
                <a:uFillTx/>
                <a:latin typeface="Roboto Slab"/>
                <a:ea typeface="Roboto Slab"/>
              </a:rPr>
              <a:t>Click to add closing statement, reminder, or thank you note</a:t>
            </a:r>
            <a:endParaRPr b="0" lang="it-IT" sz="36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mailto:ivickysingh@yahoo.com" TargetMode="External"/><Relationship Id="rId2" Type="http://schemas.openxmlformats.org/officeDocument/2006/relationships/hyperlink" Target="mailto:davide.freni@gmail.com" TargetMode="External"/><Relationship Id="rId3" Type="http://schemas.openxmlformats.org/officeDocument/2006/relationships/hyperlink" Target="mailto:kenkarish1935@gmail.com" TargetMode="External"/><Relationship Id="rId4" Type="http://schemas.openxmlformats.org/officeDocument/2006/relationships/slideLayout" Target="../slideLayouts/slideLayout4.xml"/><Relationship Id="rId5"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989640" y="1260000"/>
            <a:ext cx="7163640" cy="719640"/>
          </a:xfrm>
          <a:prstGeom prst="rect">
            <a:avLst/>
          </a:prstGeom>
          <a:noFill/>
          <a:ln w="0">
            <a:noFill/>
          </a:ln>
        </p:spPr>
        <p:txBody>
          <a:bodyPr lIns="91440" rIns="91440" tIns="91440" bIns="91440" anchor="ctr">
            <a:noAutofit/>
          </a:bodyPr>
          <a:p>
            <a:pPr indent="0" algn="ctr">
              <a:lnSpc>
                <a:spcPct val="100000"/>
              </a:lnSpc>
              <a:buNone/>
              <a:tabLst>
                <a:tab algn="l" pos="0"/>
              </a:tabLst>
            </a:pPr>
            <a:r>
              <a:rPr b="1" lang="it-IT" sz="3600" strike="noStrike" u="none">
                <a:solidFill>
                  <a:srgbClr val="ffffff"/>
                </a:solidFill>
                <a:effectLst/>
                <a:uFillTx/>
                <a:latin typeface="Roboto Slab"/>
                <a:ea typeface="Roboto Slab"/>
              </a:rPr>
              <a:t>Beyond Markowitz</a:t>
            </a:r>
            <a:endParaRPr b="0" lang="it-IT" sz="3600" strike="noStrike" u="none">
              <a:solidFill>
                <a:srgbClr val="ffffff"/>
              </a:solidFill>
              <a:effectLst/>
              <a:uFillTx/>
              <a:latin typeface="Arial"/>
            </a:endParaRPr>
          </a:p>
        </p:txBody>
      </p:sp>
      <p:sp>
        <p:nvSpPr>
          <p:cNvPr id="37" name="PlaceHolder 2"/>
          <p:cNvSpPr>
            <a:spLocks noGrp="1"/>
          </p:cNvSpPr>
          <p:nvPr>
            <p:ph type="subTitle"/>
          </p:nvPr>
        </p:nvSpPr>
        <p:spPr>
          <a:xfrm>
            <a:off x="1417680" y="2126880"/>
            <a:ext cx="5961960" cy="392760"/>
          </a:xfrm>
          <a:prstGeom prst="rect">
            <a:avLst/>
          </a:prstGeom>
          <a:noFill/>
          <a:ln w="0">
            <a:noFill/>
          </a:ln>
        </p:spPr>
        <p:txBody>
          <a:bodyPr lIns="91440" rIns="91440" tIns="91440" bIns="91440" anchor="ctr">
            <a:noAutofit/>
          </a:bodyPr>
          <a:p>
            <a:pPr indent="0" algn="ctr">
              <a:lnSpc>
                <a:spcPct val="100000"/>
              </a:lnSpc>
              <a:buNone/>
              <a:tabLst>
                <a:tab algn="l" pos="0"/>
              </a:tabLst>
            </a:pPr>
            <a:r>
              <a:rPr b="0" lang="it-IT" sz="2400" strike="noStrike" u="none">
                <a:solidFill>
                  <a:srgbClr val="ffffff"/>
                </a:solidFill>
                <a:effectLst/>
                <a:uFillTx/>
                <a:latin typeface="Arial"/>
              </a:rPr>
              <a:t>Institutional Analysis of </a:t>
            </a:r>
            <a:endParaRPr b="0" lang="it-IT" sz="2400" strike="noStrike" u="none">
              <a:solidFill>
                <a:srgbClr val="ffffff"/>
              </a:solidFill>
              <a:effectLst/>
              <a:uFillTx/>
              <a:latin typeface="Arial"/>
            </a:endParaRPr>
          </a:p>
          <a:p>
            <a:pPr indent="0" algn="ctr">
              <a:lnSpc>
                <a:spcPct val="100000"/>
              </a:lnSpc>
              <a:buNone/>
              <a:tabLst>
                <a:tab algn="l" pos="0"/>
              </a:tabLst>
            </a:pPr>
            <a:r>
              <a:rPr b="0" lang="it-IT" sz="2400" strike="noStrike" u="none">
                <a:solidFill>
                  <a:srgbClr val="ffffff"/>
                </a:solidFill>
                <a:effectLst/>
                <a:uFillTx/>
                <a:latin typeface="Arial"/>
              </a:rPr>
              <a:t>AI-Driven Portfolio Optimization</a:t>
            </a:r>
            <a:endParaRPr b="0" lang="it-IT" sz="2400" strike="noStrike" u="none">
              <a:solidFill>
                <a:srgbClr val="ffffff"/>
              </a:solidFill>
              <a:effectLst/>
              <a:uFillTx/>
              <a:latin typeface="Arial"/>
            </a:endParaRPr>
          </a:p>
        </p:txBody>
      </p:sp>
      <p:sp>
        <p:nvSpPr>
          <p:cNvPr id="38" name="PlaceHolder 3"/>
          <p:cNvSpPr>
            <a:spLocks noGrp="1"/>
          </p:cNvSpPr>
          <p:nvPr>
            <p:ph/>
          </p:nvPr>
        </p:nvSpPr>
        <p:spPr>
          <a:xfrm>
            <a:off x="5734080" y="3526560"/>
            <a:ext cx="3085560" cy="253080"/>
          </a:xfrm>
          <a:prstGeom prst="rect">
            <a:avLst/>
          </a:prstGeom>
          <a:noFill/>
          <a:ln w="0">
            <a:noFill/>
          </a:ln>
        </p:spPr>
        <p:txBody>
          <a:bodyPr lIns="91440" rIns="91440" tIns="91440" bIns="91440" anchor="ctr">
            <a:noAutofit/>
          </a:bodyPr>
          <a:p>
            <a:pPr marL="114480" indent="0" algn="r">
              <a:lnSpc>
                <a:spcPct val="115000"/>
              </a:lnSpc>
              <a:spcBef>
                <a:spcPts val="1417"/>
              </a:spcBef>
              <a:buNone/>
              <a:tabLst>
                <a:tab algn="l" pos="0"/>
              </a:tabLst>
            </a:pPr>
            <a:r>
              <a:rPr b="0" lang="it-IT" sz="2400" strike="noStrike" u="none">
                <a:solidFill>
                  <a:srgbClr val="35efea"/>
                </a:solidFill>
                <a:effectLst/>
                <a:uFillTx/>
                <a:latin typeface="Lato"/>
              </a:rPr>
              <a:t>By Davide</a:t>
            </a:r>
            <a:br>
              <a:rPr sz="2400"/>
            </a:br>
            <a:r>
              <a:rPr b="0" lang="it-IT" sz="2400" strike="noStrike" u="none">
                <a:solidFill>
                  <a:srgbClr val="35efea"/>
                </a:solidFill>
                <a:effectLst/>
                <a:uFillTx/>
                <a:latin typeface="Lato"/>
              </a:rPr>
              <a:t>Freni</a:t>
            </a:r>
            <a:endParaRPr b="0" lang="it-IT" sz="2400" strike="noStrike" u="none">
              <a:solidFill>
                <a:srgbClr val="ffffff"/>
              </a:solidFill>
              <a:effectLst/>
              <a:uFillTx/>
              <a:latin typeface="Arial"/>
            </a:endParaRPr>
          </a:p>
        </p:txBody>
      </p:sp>
      <p:sp>
        <p:nvSpPr>
          <p:cNvPr id="39" name="PlaceHolder 4"/>
          <p:cNvSpPr>
            <a:spLocks noGrp="1"/>
          </p:cNvSpPr>
          <p:nvPr>
            <p:ph/>
          </p:nvPr>
        </p:nvSpPr>
        <p:spPr>
          <a:xfrm>
            <a:off x="5734080" y="4246560"/>
            <a:ext cx="3085560" cy="253080"/>
          </a:xfrm>
          <a:prstGeom prst="rect">
            <a:avLst/>
          </a:prstGeom>
          <a:noFill/>
          <a:ln w="0">
            <a:noFill/>
          </a:ln>
        </p:spPr>
        <p:txBody>
          <a:bodyPr lIns="91440" rIns="91440" tIns="91440" bIns="91440" anchor="ctr">
            <a:noAutofit/>
          </a:bodyPr>
          <a:p>
            <a:pPr marL="114480" indent="0" algn="r">
              <a:lnSpc>
                <a:spcPct val="115000"/>
              </a:lnSpc>
              <a:buNone/>
              <a:tabLst>
                <a:tab algn="l" pos="0"/>
              </a:tabLst>
            </a:pPr>
            <a:r>
              <a:rPr b="0" i="1" lang="it-IT" sz="1100" strike="noStrike" u="none">
                <a:solidFill>
                  <a:srgbClr val="35efea"/>
                </a:solidFill>
                <a:effectLst/>
                <a:uFillTx/>
                <a:latin typeface="Lato"/>
              </a:rPr>
              <a:t>December 2025</a:t>
            </a:r>
            <a:endParaRPr b="0" lang="it-IT"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236520" y="447480"/>
            <a:ext cx="4623120" cy="1514520"/>
          </a:xfrm>
          <a:prstGeom prst="rect">
            <a:avLst/>
          </a:prstGeom>
          <a:noFill/>
          <a:ln w="0">
            <a:noFill/>
          </a:ln>
        </p:spPr>
        <p:txBody>
          <a:bodyPr lIns="91440" rIns="91440" tIns="91440" bIns="91440" anchor="ctr">
            <a:noAutofit/>
          </a:bodyPr>
          <a:p>
            <a:pPr indent="0" algn="ctr">
              <a:lnSpc>
                <a:spcPct val="100000"/>
              </a:lnSpc>
              <a:buNone/>
              <a:tabLst>
                <a:tab algn="l" pos="0"/>
              </a:tabLst>
            </a:pPr>
            <a:r>
              <a:rPr b="1" lang="it-IT" sz="3600" strike="noStrike" u="none">
                <a:solidFill>
                  <a:srgbClr val="1f1749"/>
                </a:solidFill>
                <a:effectLst/>
                <a:uFillTx/>
                <a:latin typeface="Roboto Slab"/>
              </a:rPr>
              <a:t>Group #11196</a:t>
            </a:r>
            <a:endParaRPr b="0" lang="it-IT" sz="3600" strike="noStrike" u="none">
              <a:solidFill>
                <a:srgbClr val="000000"/>
              </a:solidFill>
              <a:effectLst/>
              <a:uFillTx/>
              <a:latin typeface="Arial"/>
            </a:endParaRPr>
          </a:p>
        </p:txBody>
      </p:sp>
      <p:sp>
        <p:nvSpPr>
          <p:cNvPr id="41" name="PlaceHolder 2"/>
          <p:cNvSpPr>
            <a:spLocks noGrp="1"/>
          </p:cNvSpPr>
          <p:nvPr>
            <p:ph type="subTitle"/>
          </p:nvPr>
        </p:nvSpPr>
        <p:spPr>
          <a:xfrm>
            <a:off x="2676240" y="1516680"/>
            <a:ext cx="5050800" cy="2872440"/>
          </a:xfrm>
          <a:prstGeom prst="rect">
            <a:avLst/>
          </a:prstGeom>
          <a:noFill/>
          <a:ln w="0">
            <a:noFill/>
          </a:ln>
        </p:spPr>
        <p:txBody>
          <a:bodyPr lIns="91440" rIns="91440" tIns="91440" bIns="91440" anchor="t">
            <a:noAutofit/>
          </a:bodyPr>
          <a:p>
            <a:pPr marL="685800" indent="0">
              <a:lnSpc>
                <a:spcPct val="100000"/>
              </a:lnSpc>
              <a:buNone/>
              <a:tabLst>
                <a:tab algn="l" pos="0"/>
              </a:tabLst>
            </a:pPr>
            <a:r>
              <a:rPr b="1" i="1" lang="it-IT" sz="3600" strike="noStrike" u="none">
                <a:solidFill>
                  <a:schemeClr val="dk1"/>
                </a:solidFill>
                <a:effectLst/>
                <a:uFillTx/>
                <a:latin typeface="Lato"/>
              </a:rPr>
              <a:t>Group members</a:t>
            </a:r>
            <a:endParaRPr b="0" lang="it-IT" sz="3600" strike="noStrike" u="none">
              <a:solidFill>
                <a:srgbClr val="000000"/>
              </a:solidFill>
              <a:effectLst/>
              <a:uFillTx/>
              <a:latin typeface="Arial"/>
            </a:endParaRPr>
          </a:p>
          <a:p>
            <a:pPr marL="720000" indent="-216000">
              <a:lnSpc>
                <a:spcPct val="100000"/>
              </a:lnSpc>
              <a:buClr>
                <a:srgbClr val="423a6d"/>
              </a:buClr>
              <a:buFont typeface="OpenSymbol"/>
              <a:buChar char="-"/>
              <a:tabLst>
                <a:tab algn="l" pos="0"/>
              </a:tabLst>
            </a:pPr>
            <a:r>
              <a:rPr b="0" i="1" lang="it-IT" sz="3600" strike="noStrike" u="none">
                <a:solidFill>
                  <a:schemeClr val="dk1"/>
                </a:solidFill>
                <a:effectLst/>
                <a:uFillTx/>
                <a:latin typeface="Lato"/>
              </a:rPr>
              <a:t>Vicky Singh </a:t>
            </a:r>
            <a:endParaRPr b="0" lang="it-IT" sz="3600" strike="noStrike" u="none">
              <a:solidFill>
                <a:srgbClr val="000000"/>
              </a:solidFill>
              <a:effectLst/>
              <a:uFillTx/>
              <a:latin typeface="Arial"/>
            </a:endParaRPr>
          </a:p>
          <a:p>
            <a:pPr marL="720000" indent="-216000">
              <a:lnSpc>
                <a:spcPct val="100000"/>
              </a:lnSpc>
              <a:buClr>
                <a:srgbClr val="423a6d"/>
              </a:buClr>
              <a:buFont typeface="OpenSymbol"/>
              <a:buChar char="-"/>
              <a:tabLst>
                <a:tab algn="l" pos="0"/>
              </a:tabLst>
            </a:pPr>
            <a:r>
              <a:rPr b="0" i="1" lang="it-IT" sz="3600" strike="noStrike" u="none">
                <a:solidFill>
                  <a:schemeClr val="dk1"/>
                </a:solidFill>
                <a:effectLst/>
                <a:uFillTx/>
                <a:latin typeface="Lato"/>
              </a:rPr>
              <a:t>Davide Freni</a:t>
            </a:r>
            <a:endParaRPr b="0" lang="it-IT" sz="3600" strike="noStrike" u="none">
              <a:solidFill>
                <a:srgbClr val="000000"/>
              </a:solidFill>
              <a:effectLst/>
              <a:uFillTx/>
              <a:latin typeface="Arial"/>
            </a:endParaRPr>
          </a:p>
          <a:p>
            <a:pPr marL="720000" indent="-216000">
              <a:lnSpc>
                <a:spcPct val="100000"/>
              </a:lnSpc>
              <a:buClr>
                <a:srgbClr val="423a6d"/>
              </a:buClr>
              <a:buFont typeface="OpenSymbol"/>
              <a:buChar char="-"/>
              <a:tabLst>
                <a:tab algn="l" pos="0"/>
              </a:tabLst>
            </a:pPr>
            <a:r>
              <a:rPr b="0" i="1" lang="it-IT" sz="3600" strike="noStrike" u="none">
                <a:solidFill>
                  <a:schemeClr val="dk1"/>
                </a:solidFill>
                <a:effectLst/>
                <a:uFillTx/>
                <a:latin typeface="Lato"/>
              </a:rPr>
              <a:t>Kenneth Kariuki</a:t>
            </a:r>
            <a:endParaRPr b="0" lang="it-IT"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Government Issued Photo ID</a:t>
            </a:r>
            <a:endParaRPr b="0" lang="it-IT" sz="2800" strike="noStrike" u="none">
              <a:solidFill>
                <a:srgbClr val="000000"/>
              </a:solidFill>
              <a:effectLst/>
              <a:uFillTx/>
              <a:latin typeface="Arial"/>
            </a:endParaRPr>
          </a:p>
        </p:txBody>
      </p:sp>
      <p:pic>
        <p:nvPicPr>
          <p:cNvPr id="43" name="" descr=""/>
          <p:cNvPicPr/>
          <p:nvPr/>
        </p:nvPicPr>
        <p:blipFill>
          <a:blip r:embed="rId1"/>
          <a:stretch/>
        </p:blipFill>
        <p:spPr>
          <a:xfrm>
            <a:off x="1116000" y="1368000"/>
            <a:ext cx="3544560" cy="2234520"/>
          </a:xfrm>
          <a:prstGeom prst="rect">
            <a:avLst/>
          </a:prstGeom>
          <a:noFill/>
          <a:ln w="0">
            <a:noFill/>
          </a:ln>
        </p:spPr>
      </p:pic>
      <p:pic>
        <p:nvPicPr>
          <p:cNvPr id="44" name="" descr=""/>
          <p:cNvPicPr/>
          <p:nvPr/>
        </p:nvPicPr>
        <p:blipFill>
          <a:blip r:embed="rId2"/>
          <a:stretch/>
        </p:blipFill>
        <p:spPr>
          <a:xfrm>
            <a:off x="4660920" y="1368000"/>
            <a:ext cx="3493800" cy="2194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Project Goal and Importance</a:t>
            </a:r>
            <a:endParaRPr b="0" lang="it-IT" sz="2800" strike="noStrike" u="none">
              <a:solidFill>
                <a:srgbClr val="000000"/>
              </a:solidFill>
              <a:effectLst/>
              <a:uFillTx/>
              <a:latin typeface="Arial"/>
            </a:endParaRPr>
          </a:p>
        </p:txBody>
      </p:sp>
      <p:sp>
        <p:nvSpPr>
          <p:cNvPr id="46"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0">
              <a:lnSpc>
                <a:spcPct val="115000"/>
              </a:lnSpc>
              <a:spcAft>
                <a:spcPts val="601"/>
              </a:spcAft>
              <a:buNone/>
              <a:tabLst>
                <a:tab algn="l" pos="0"/>
              </a:tabLst>
            </a:pPr>
            <a:r>
              <a:rPr b="0" lang="en-US" sz="2000" strike="noStrike" u="none">
                <a:solidFill>
                  <a:schemeClr val="dk1"/>
                </a:solidFill>
                <a:effectLst/>
                <a:uFillTx/>
                <a:latin typeface="Verdana"/>
                <a:ea typeface="Lato"/>
              </a:rPr>
              <a:t>Enhance Portfolio Management</a:t>
            </a:r>
            <a:endParaRPr b="0" lang="it-IT" sz="2000" strike="noStrike" u="none">
              <a:solidFill>
                <a:srgbClr val="000000"/>
              </a:solidFill>
              <a:effectLst/>
              <a:uFillTx/>
              <a:latin typeface="Arial"/>
            </a:endParaRPr>
          </a:p>
          <a:p>
            <a:pPr marL="457200" indent="0">
              <a:lnSpc>
                <a:spcPct val="115000"/>
              </a:lnSpc>
              <a:spcAft>
                <a:spcPts val="601"/>
              </a:spcAft>
              <a:buNone/>
              <a:tabLst>
                <a:tab algn="l" pos="0"/>
              </a:tabLst>
            </a:pPr>
            <a:endParaRPr b="0" lang="it-IT" sz="2000" strike="noStrike" u="none">
              <a:solidFill>
                <a:srgbClr val="000000"/>
              </a:solidFill>
              <a:effectLst/>
              <a:uFillTx/>
              <a:latin typeface="Arial"/>
            </a:endParaRPr>
          </a:p>
          <a:p>
            <a:pPr lvl="1" marL="864000" indent="-324000">
              <a:lnSpc>
                <a:spcPts val="2500"/>
              </a:lnSpc>
              <a:buClr>
                <a:srgbClr val="000000"/>
              </a:buClr>
              <a:buSzPct val="75000"/>
              <a:buFont typeface="Symbol" charset="2"/>
              <a:buChar char=""/>
              <a:tabLst>
                <a:tab algn="l" pos="0"/>
              </a:tabLst>
            </a:pPr>
            <a:r>
              <a:rPr b="0" lang="en-US" sz="2000" strike="noStrike" u="none">
                <a:solidFill>
                  <a:schemeClr val="dk1"/>
                </a:solidFill>
                <a:effectLst/>
                <a:uFillTx/>
                <a:latin typeface="Verdana"/>
                <a:ea typeface="Crimson Pro Bold"/>
              </a:rPr>
              <a:t>Addressing Traditional Weaknesses</a:t>
            </a:r>
            <a:endParaRPr b="0" lang="it-IT" sz="2000" strike="noStrike" u="none">
              <a:solidFill>
                <a:srgbClr val="000000"/>
              </a:solidFill>
              <a:effectLst/>
              <a:uFillTx/>
              <a:latin typeface="Arial"/>
            </a:endParaRPr>
          </a:p>
          <a:p>
            <a:pPr marL="864000" indent="0">
              <a:lnSpc>
                <a:spcPts val="2500"/>
              </a:lnSpc>
              <a:buNone/>
              <a:tabLst>
                <a:tab algn="l" pos="0"/>
              </a:tabLst>
            </a:pPr>
            <a:endParaRPr b="0" lang="it-IT" sz="2000" strike="noStrike" u="none">
              <a:solidFill>
                <a:srgbClr val="000000"/>
              </a:solidFill>
              <a:effectLst/>
              <a:uFillTx/>
              <a:latin typeface="Arial"/>
            </a:endParaRPr>
          </a:p>
          <a:p>
            <a:pPr lvl="1" marL="864000" indent="-324000">
              <a:lnSpc>
                <a:spcPts val="2500"/>
              </a:lnSpc>
              <a:buClr>
                <a:srgbClr val="000000"/>
              </a:buClr>
              <a:buSzPct val="75000"/>
              <a:buFont typeface="Symbol" charset="2"/>
              <a:buChar char=""/>
              <a:tabLst>
                <a:tab algn="l" pos="0"/>
              </a:tabLst>
            </a:pPr>
            <a:r>
              <a:rPr b="0" lang="en-US" sz="2000" strike="noStrike" u="none">
                <a:solidFill>
                  <a:schemeClr val="dk1"/>
                </a:solidFill>
                <a:effectLst/>
                <a:uFillTx/>
                <a:latin typeface="Verdana"/>
                <a:ea typeface="Crimson Pro Bold"/>
              </a:rPr>
              <a:t>Comparing Performance of different strategies</a:t>
            </a:r>
            <a:endParaRPr b="0" lang="it-IT" sz="2000" strike="noStrike" u="none">
              <a:solidFill>
                <a:srgbClr val="000000"/>
              </a:solidFill>
              <a:effectLst/>
              <a:uFillTx/>
              <a:latin typeface="Arial"/>
            </a:endParaRPr>
          </a:p>
          <a:p>
            <a:pPr marL="864000" indent="0">
              <a:lnSpc>
                <a:spcPts val="2500"/>
              </a:lnSpc>
              <a:buNone/>
              <a:tabLst>
                <a:tab algn="l" pos="0"/>
              </a:tabLst>
            </a:pPr>
            <a:endParaRPr b="0" lang="it-IT" sz="2000" strike="noStrike" u="none">
              <a:solidFill>
                <a:srgbClr val="000000"/>
              </a:solidFill>
              <a:effectLst/>
              <a:uFillTx/>
              <a:latin typeface="Arial"/>
            </a:endParaRPr>
          </a:p>
          <a:p>
            <a:pPr lvl="1" marL="864000" indent="-324000">
              <a:lnSpc>
                <a:spcPts val="2500"/>
              </a:lnSpc>
              <a:buClr>
                <a:srgbClr val="000000"/>
              </a:buClr>
              <a:buSzPct val="75000"/>
              <a:buFont typeface="Symbol" charset="2"/>
              <a:buChar char=""/>
              <a:tabLst>
                <a:tab algn="l" pos="0"/>
              </a:tabLst>
            </a:pPr>
            <a:r>
              <a:rPr b="0" lang="en-US" sz="2000" strike="noStrike" u="none">
                <a:solidFill>
                  <a:schemeClr val="dk1"/>
                </a:solidFill>
                <a:effectLst/>
                <a:uFillTx/>
                <a:latin typeface="Verdana"/>
                <a:ea typeface="Crimson Pro Bold"/>
              </a:rPr>
              <a:t>Developing Replicable Codebase</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Literature Review/Background</a:t>
            </a:r>
            <a:endParaRPr b="0" lang="it-IT" sz="2800" strike="noStrike" u="none">
              <a:solidFill>
                <a:srgbClr val="000000"/>
              </a:solidFill>
              <a:effectLst/>
              <a:uFillTx/>
              <a:latin typeface="Arial"/>
            </a:endParaRPr>
          </a:p>
        </p:txBody>
      </p:sp>
      <p:sp>
        <p:nvSpPr>
          <p:cNvPr id="48"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Bef>
                <a:spcPts val="1191"/>
              </a:spcBef>
              <a:spcAft>
                <a:spcPts val="992"/>
              </a:spcAft>
              <a:buClr>
                <a:srgbClr val="423a6d"/>
              </a:buClr>
              <a:buFont typeface="Lato"/>
              <a:buChar char="●"/>
            </a:pPr>
            <a:r>
              <a:rPr b="0" lang="en-US" sz="2000" strike="noStrike" u="none">
                <a:solidFill>
                  <a:schemeClr val="dk1"/>
                </a:solidFill>
                <a:effectLst/>
                <a:uFillTx/>
                <a:latin typeface="Lato"/>
                <a:ea typeface="Lato"/>
              </a:rPr>
              <a:t>This project directly engages with and challenges several foundational and contemporary works in the field: </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Lato"/>
                <a:ea typeface="Lato"/>
              </a:rPr>
              <a:t>Challenging Traditional Portfolio Theory</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Lato"/>
                <a:ea typeface="Lato"/>
              </a:rPr>
              <a:t>Reinforcing the Naive Baseline</a:t>
            </a:r>
            <a:endParaRPr b="0" lang="it-IT" sz="20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000" strike="noStrike" u="none">
                <a:solidFill>
                  <a:schemeClr val="dk1"/>
                </a:solidFill>
                <a:effectLst/>
                <a:uFillTx/>
                <a:latin typeface="Lato"/>
                <a:ea typeface="Lato"/>
              </a:rPr>
              <a:t>Integrating with Machine Learning in Finance </a:t>
            </a:r>
            <a:endParaRPr b="0" lang="it-IT" sz="2000" strike="noStrike" u="none">
              <a:solidFill>
                <a:srgbClr val="000000"/>
              </a:solidFill>
              <a:effectLst/>
              <a:uFillTx/>
              <a:latin typeface="Arial"/>
            </a:endParaRPr>
          </a:p>
          <a:p>
            <a:pPr marL="457200" indent="-343080">
              <a:lnSpc>
                <a:spcPct val="115000"/>
              </a:lnSpc>
              <a:buClr>
                <a:srgbClr val="423a6d"/>
              </a:buClr>
              <a:buFont typeface="Lato"/>
              <a:buChar char="●"/>
            </a:pPr>
            <a:r>
              <a:rPr b="0" lang="en-US" sz="2000" strike="noStrike" u="none">
                <a:solidFill>
                  <a:schemeClr val="dk1"/>
                </a:solidFill>
                <a:effectLst/>
                <a:uFillTx/>
                <a:latin typeface="Lato"/>
                <a:ea typeface="Lato"/>
              </a:rPr>
              <a:t>"Smartportfolios," a unified framework that </a:t>
            </a:r>
            <a:endParaRPr b="0" lang="it-IT" sz="2000" strike="noStrike" u="none">
              <a:solidFill>
                <a:srgbClr val="000000"/>
              </a:solidFill>
              <a:effectLst/>
              <a:uFillTx/>
              <a:latin typeface="Arial"/>
            </a:endParaRPr>
          </a:p>
          <a:p>
            <a:pPr marL="457200" indent="0">
              <a:lnSpc>
                <a:spcPct val="115000"/>
              </a:lnSpc>
              <a:buNone/>
              <a:tabLst>
                <a:tab algn="l" pos="0"/>
              </a:tabLst>
            </a:pPr>
            <a:r>
              <a:rPr b="0" lang="en-US" sz="2000" strike="noStrike" u="none">
                <a:solidFill>
                  <a:schemeClr val="dk1"/>
                </a:solidFill>
                <a:effectLst/>
                <a:uFillTx/>
                <a:latin typeface="Lato"/>
                <a:ea typeface="Lato"/>
              </a:rPr>
              <a:t>simultaneously evaluates and compares five </a:t>
            </a:r>
            <a:endParaRPr b="0" lang="it-IT" sz="2000" strike="noStrike" u="none">
              <a:solidFill>
                <a:srgbClr val="000000"/>
              </a:solidFill>
              <a:effectLst/>
              <a:uFillTx/>
              <a:latin typeface="Arial"/>
            </a:endParaRPr>
          </a:p>
          <a:p>
            <a:pPr marL="457200" indent="0">
              <a:lnSpc>
                <a:spcPct val="115000"/>
              </a:lnSpc>
              <a:buNone/>
              <a:tabLst>
                <a:tab algn="l" pos="0"/>
              </a:tabLst>
            </a:pPr>
            <a:r>
              <a:rPr b="0" lang="en-US" sz="2000" strike="noStrike" u="none">
                <a:solidFill>
                  <a:schemeClr val="dk1"/>
                </a:solidFill>
                <a:effectLst/>
                <a:uFillTx/>
                <a:latin typeface="Lato"/>
                <a:ea typeface="Lato"/>
              </a:rPr>
              <a:t>fundamentally different portfolio strategies</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365760" y="61740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Assumptions</a:t>
            </a:r>
            <a:endParaRPr b="0" lang="it-IT" sz="2800" strike="noStrike" u="none">
              <a:solidFill>
                <a:srgbClr val="000000"/>
              </a:solidFill>
              <a:effectLst/>
              <a:uFillTx/>
              <a:latin typeface="Arial"/>
            </a:endParaRPr>
          </a:p>
        </p:txBody>
      </p:sp>
      <p:sp>
        <p:nvSpPr>
          <p:cNvPr id="50"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Verdana"/>
                <a:ea typeface="Lato"/>
              </a:rPr>
              <a:t>Assumption made</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Verdana"/>
                <a:ea typeface="Lato"/>
              </a:rPr>
              <a:t>Simplified Cost Model (no transaction costs, slippage and market impact)</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Verdana"/>
                <a:ea typeface="Lato"/>
              </a:rPr>
              <a:t>Validity of a Short Timeframe</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Verdana"/>
                <a:ea typeface="Lato"/>
              </a:rPr>
              <a:t>Validity of assigned Mock ESG scores</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Verdana"/>
                <a:ea typeface="Lato"/>
              </a:rPr>
              <a:t>Constant Investment Universe</a:t>
            </a:r>
            <a:endParaRPr b="0" lang="it-IT" sz="2000" strike="noStrike" u="none">
              <a:solidFill>
                <a:srgbClr val="000000"/>
              </a:solidFill>
              <a:effectLst/>
              <a:uFillTx/>
              <a:latin typeface="Arial"/>
            </a:endParaRPr>
          </a:p>
          <a:p>
            <a:pPr marL="457200" indent="0">
              <a:lnSpc>
                <a:spcPct val="115000"/>
              </a:lnSpc>
              <a:spcAft>
                <a:spcPts val="601"/>
              </a:spcAft>
              <a:buNone/>
              <a:tabLst>
                <a:tab algn="l" pos="0"/>
              </a:tabLst>
            </a:pP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65760" y="61740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Choice of Technology</a:t>
            </a:r>
            <a:endParaRPr b="0" lang="it-IT" sz="2800" strike="noStrike" u="none">
              <a:solidFill>
                <a:srgbClr val="000000"/>
              </a:solidFill>
              <a:effectLst/>
              <a:uFillTx/>
              <a:latin typeface="Arial"/>
            </a:endParaRPr>
          </a:p>
        </p:txBody>
      </p:sp>
      <p:sp>
        <p:nvSpPr>
          <p:cNvPr id="52"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Verdana"/>
                <a:ea typeface="Lato"/>
              </a:rPr>
              <a:t>Reason why Python was chosen as programing language</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Verdana"/>
                <a:ea typeface="Lato"/>
              </a:rPr>
              <a:t>Data Acquisition (yfinance API)</a:t>
            </a:r>
            <a:endParaRPr b="0" lang="it-IT" sz="20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000" strike="noStrike" u="none">
                <a:solidFill>
                  <a:schemeClr val="dk1"/>
                </a:solidFill>
                <a:effectLst/>
                <a:uFillTx/>
                <a:latin typeface="Verdana"/>
                <a:ea typeface="Lato"/>
              </a:rPr>
              <a:t>Write clear and well-documented code</a:t>
            </a:r>
            <a:endParaRPr b="0" lang="it-IT" sz="2000" strike="noStrike" u="none">
              <a:solidFill>
                <a:srgbClr val="000000"/>
              </a:solidFill>
              <a:effectLst/>
              <a:uFillTx/>
              <a:latin typeface="Arial"/>
            </a:endParaRPr>
          </a:p>
          <a:p>
            <a:pPr lvl="1" marL="864000" indent="-324000">
              <a:lnSpc>
                <a:spcPct val="100000"/>
              </a:lnSpc>
              <a:spcBef>
                <a:spcPts val="1191"/>
              </a:spcBef>
              <a:spcAft>
                <a:spcPts val="992"/>
              </a:spcAft>
              <a:buClr>
                <a:srgbClr val="000000"/>
              </a:buClr>
              <a:buSzPct val="75000"/>
              <a:buFont typeface="Symbol" charset="2"/>
              <a:buChar char=""/>
            </a:pPr>
            <a:r>
              <a:rPr b="0" lang="en-US" sz="2000" strike="noStrike" u="none">
                <a:solidFill>
                  <a:schemeClr val="dk1"/>
                </a:solidFill>
                <a:effectLst/>
                <a:uFillTx/>
                <a:latin typeface="Verdana"/>
                <a:ea typeface="Lato"/>
              </a:rPr>
              <a:t>Complex model architecture, including Reinforcement Learning, Machine Learning and Deep Learning algorithms </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Peer Review Feedback</a:t>
            </a:r>
            <a:endParaRPr b="0" lang="it-IT" sz="2800" strike="noStrike" u="none">
              <a:solidFill>
                <a:srgbClr val="000000"/>
              </a:solidFill>
              <a:effectLst/>
              <a:uFillTx/>
              <a:latin typeface="Arial"/>
            </a:endParaRPr>
          </a:p>
        </p:txBody>
      </p:sp>
      <p:sp>
        <p:nvSpPr>
          <p:cNvPr id="54" name="PlaceHolder 2"/>
          <p:cNvSpPr>
            <a:spLocks noGrp="1"/>
          </p:cNvSpPr>
          <p:nvPr>
            <p:ph/>
          </p:nvPr>
        </p:nvSpPr>
        <p:spPr>
          <a:xfrm>
            <a:off x="365760" y="1354320"/>
            <a:ext cx="7553880" cy="2953440"/>
          </a:xfrm>
          <a:prstGeom prst="rect">
            <a:avLst/>
          </a:prstGeom>
          <a:noFill/>
          <a:ln w="0">
            <a:noFill/>
          </a:ln>
        </p:spPr>
        <p:txBody>
          <a:bodyPr lIns="91440" rIns="91440" tIns="91440" bIns="91440" anchor="t">
            <a:noAutofit/>
          </a:bodyPr>
          <a:p>
            <a:pPr marL="457200" indent="0">
              <a:lnSpc>
                <a:spcPct val="115000"/>
              </a:lnSpc>
              <a:spcBef>
                <a:spcPts val="1191"/>
              </a:spcBef>
              <a:spcAft>
                <a:spcPts val="992"/>
              </a:spcAft>
              <a:buNone/>
              <a:tabLst>
                <a:tab algn="l" pos="0"/>
              </a:tabLst>
            </a:pPr>
            <a:r>
              <a:rPr b="0" lang="en-US" sz="2000" strike="noStrike" u="none">
                <a:solidFill>
                  <a:srgbClr val="000000"/>
                </a:solidFill>
                <a:effectLst/>
                <a:uFillTx/>
                <a:latin typeface="Arial"/>
                <a:ea typeface="Arial"/>
              </a:rPr>
              <a:t>As suggested by the peer review</a:t>
            </a:r>
            <a:endParaRPr b="0" lang="it-IT" sz="2000" strike="noStrike" u="none">
              <a:solidFill>
                <a:srgbClr val="000000"/>
              </a:solidFill>
              <a:effectLst/>
              <a:uFillTx/>
              <a:latin typeface="Arial"/>
            </a:endParaRPr>
          </a:p>
          <a:p>
            <a:pPr marL="457200" indent="-343080">
              <a:lnSpc>
                <a:spcPct val="115000"/>
              </a:lnSpc>
              <a:spcBef>
                <a:spcPts val="1191"/>
              </a:spcBef>
              <a:spcAft>
                <a:spcPts val="992"/>
              </a:spcAft>
              <a:buClr>
                <a:srgbClr val="423a6d"/>
              </a:buClr>
              <a:buFont typeface="Lato"/>
              <a:buChar char="●"/>
              <a:tabLst>
                <a:tab algn="l" pos="0"/>
              </a:tabLst>
            </a:pPr>
            <a:r>
              <a:rPr b="0" lang="en-US" sz="2000" strike="noStrike" u="none">
                <a:solidFill>
                  <a:srgbClr val="000000"/>
                </a:solidFill>
                <a:effectLst/>
                <a:uFillTx/>
                <a:latin typeface="Arial"/>
                <a:ea typeface="Arial"/>
              </a:rPr>
              <a:t>Diversification/Data Scope: we switched to new and more diversified equity.</a:t>
            </a:r>
            <a:endParaRPr b="0" lang="it-IT" sz="2000" strike="noStrike" u="none">
              <a:solidFill>
                <a:srgbClr val="000000"/>
              </a:solidFill>
              <a:effectLst/>
              <a:uFillTx/>
              <a:latin typeface="Arial"/>
            </a:endParaRPr>
          </a:p>
          <a:p>
            <a:pPr marL="457200" indent="-343080">
              <a:lnSpc>
                <a:spcPct val="115000"/>
              </a:lnSpc>
              <a:spcBef>
                <a:spcPts val="1191"/>
              </a:spcBef>
              <a:spcAft>
                <a:spcPts val="992"/>
              </a:spcAft>
              <a:buClr>
                <a:srgbClr val="423a6d"/>
              </a:buClr>
              <a:buFont typeface="Lato"/>
              <a:buChar char="●"/>
              <a:tabLst>
                <a:tab algn="l" pos="0"/>
              </a:tabLst>
            </a:pPr>
            <a:r>
              <a:rPr b="0" lang="en-US" sz="2000" strike="noStrike" u="none">
                <a:solidFill>
                  <a:srgbClr val="000000"/>
                </a:solidFill>
                <a:effectLst/>
                <a:uFillTx/>
                <a:latin typeface="Arial"/>
                <a:ea typeface="Arial"/>
              </a:rPr>
              <a:t>Code was completely rewritten </a:t>
            </a:r>
            <a:endParaRPr b="0" lang="it-IT" sz="2000" strike="noStrike" u="none">
              <a:solidFill>
                <a:srgbClr val="000000"/>
              </a:solidFill>
              <a:effectLst/>
              <a:uFillTx/>
              <a:latin typeface="Arial"/>
            </a:endParaRPr>
          </a:p>
          <a:p>
            <a:pPr marL="457200" indent="-343080">
              <a:lnSpc>
                <a:spcPct val="115000"/>
              </a:lnSpc>
              <a:buClr>
                <a:srgbClr val="423a6d"/>
              </a:buClr>
              <a:buFont typeface="Lato"/>
              <a:buChar char="●"/>
              <a:tabLst>
                <a:tab algn="l" pos="0"/>
              </a:tabLst>
            </a:pPr>
            <a:r>
              <a:rPr b="0" lang="en-US" sz="2000" strike="noStrike" u="none">
                <a:solidFill>
                  <a:srgbClr val="000000"/>
                </a:solidFill>
                <a:effectLst/>
                <a:uFillTx/>
                <a:latin typeface="Arial"/>
                <a:ea typeface="Arial"/>
              </a:rPr>
              <a:t>Increasing the number/diversity of assets, lengthen the time period of the study and stronger backtesting implementation was left as future work</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Summary of Results</a:t>
            </a:r>
            <a:endParaRPr b="0" lang="it-IT" sz="2800" strike="noStrike" u="none">
              <a:solidFill>
                <a:srgbClr val="000000"/>
              </a:solidFill>
              <a:effectLst/>
              <a:uFillTx/>
              <a:latin typeface="Arial"/>
            </a:endParaRPr>
          </a:p>
        </p:txBody>
      </p:sp>
      <p:sp>
        <p:nvSpPr>
          <p:cNvPr id="56"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The comparison of five portfolio management strategies revealed AI-driven methods and the simple Equal Weight strategy significantly outperformed traditional optimization models.</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According to the performance comparison in 2023–2024, the winner was the Reinforcement Learning (PPO) strategy, that achieved a total return of 524.92% with a maximum drawdown (loss from peak) of -42.68%.</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The Loser was the Markowitz Mean-Variance model</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Summary of Results</a:t>
            </a:r>
            <a:endParaRPr b="0" lang="it-IT" sz="2800" strike="noStrike" u="none">
              <a:solidFill>
                <a:srgbClr val="000000"/>
              </a:solidFill>
              <a:effectLst/>
              <a:uFillTx/>
              <a:latin typeface="Arial"/>
            </a:endParaRPr>
          </a:p>
        </p:txBody>
      </p:sp>
      <p:pic>
        <p:nvPicPr>
          <p:cNvPr id="58" name="" descr=""/>
          <p:cNvPicPr/>
          <p:nvPr/>
        </p:nvPicPr>
        <p:blipFill>
          <a:blip r:embed="rId1"/>
          <a:stretch/>
        </p:blipFill>
        <p:spPr>
          <a:xfrm>
            <a:off x="1741680" y="1685880"/>
            <a:ext cx="5457960" cy="2453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Summary of Results</a:t>
            </a:r>
            <a:endParaRPr b="0" lang="it-IT" sz="2800" strike="noStrike" u="none">
              <a:solidFill>
                <a:srgbClr val="000000"/>
              </a:solidFill>
              <a:effectLst/>
              <a:uFillTx/>
              <a:latin typeface="Arial"/>
            </a:endParaRPr>
          </a:p>
        </p:txBody>
      </p:sp>
      <p:pic>
        <p:nvPicPr>
          <p:cNvPr id="60" name="" descr=""/>
          <p:cNvPicPr/>
          <p:nvPr/>
        </p:nvPicPr>
        <p:blipFill>
          <a:blip r:embed="rId1"/>
          <a:stretch/>
        </p:blipFill>
        <p:spPr>
          <a:xfrm>
            <a:off x="180000" y="1440000"/>
            <a:ext cx="4304520" cy="2361600"/>
          </a:xfrm>
          <a:prstGeom prst="rect">
            <a:avLst/>
          </a:prstGeom>
          <a:noFill/>
          <a:ln w="0">
            <a:noFill/>
          </a:ln>
        </p:spPr>
      </p:pic>
      <p:pic>
        <p:nvPicPr>
          <p:cNvPr id="61" name="" descr=""/>
          <p:cNvPicPr/>
          <p:nvPr/>
        </p:nvPicPr>
        <p:blipFill>
          <a:blip r:embed="rId2"/>
          <a:stretch/>
        </p:blipFill>
        <p:spPr>
          <a:xfrm>
            <a:off x="4860000" y="1440000"/>
            <a:ext cx="4285440" cy="19137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600" strike="noStrike" u="none">
                <a:solidFill>
                  <a:srgbClr val="1f1749"/>
                </a:solidFill>
                <a:effectLst/>
                <a:uFillTx/>
                <a:latin typeface="Roboto Slab"/>
                <a:ea typeface="Roboto Slab"/>
              </a:rPr>
              <a:t>Summary of Results: initial goal achievement</a:t>
            </a:r>
            <a:endParaRPr b="0" lang="it-IT" sz="2600" strike="noStrike" u="none">
              <a:solidFill>
                <a:srgbClr val="000000"/>
              </a:solidFill>
              <a:effectLst/>
              <a:uFillTx/>
              <a:latin typeface="Arial"/>
            </a:endParaRPr>
          </a:p>
        </p:txBody>
      </p:sp>
      <p:sp>
        <p:nvSpPr>
          <p:cNvPr id="63"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The AI models successfully mitigated the high volatility and drawdown risks inherent in the Markowitz model</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The report provides a direct comparison of five distinct models using different key metrics</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The code provided is clear and well-documented, and can be used in classrooms and trading desks </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Proximal Policy Optimization (PPO) in Reinforcement </a:t>
            </a:r>
            <a:endParaRPr b="0" lang="it-IT" sz="2000" strike="noStrike" u="none">
              <a:solidFill>
                <a:srgbClr val="000000"/>
              </a:solidFill>
              <a:effectLst/>
              <a:uFillTx/>
              <a:latin typeface="Arial"/>
            </a:endParaRPr>
          </a:p>
          <a:p>
            <a:pPr marL="457200" indent="0">
              <a:lnSpc>
                <a:spcPct val="115000"/>
              </a:lnSpc>
              <a:spcAft>
                <a:spcPts val="601"/>
              </a:spcAft>
              <a:buNone/>
              <a:tabLst>
                <a:tab algn="l" pos="0"/>
              </a:tabLst>
            </a:pPr>
            <a:r>
              <a:rPr b="0" lang="en-US" sz="2000" strike="noStrike" u="none">
                <a:solidFill>
                  <a:schemeClr val="dk1"/>
                </a:solidFill>
                <a:effectLst/>
                <a:uFillTx/>
                <a:latin typeface="Lato"/>
                <a:ea typeface="Lato"/>
              </a:rPr>
              <a:t>Learning and Dynamic Switching Hybrid Ensemble </a:t>
            </a:r>
            <a:endParaRPr b="0" lang="it-IT" sz="2000" strike="noStrike" u="none">
              <a:solidFill>
                <a:srgbClr val="000000"/>
              </a:solidFill>
              <a:effectLst/>
              <a:uFillTx/>
              <a:latin typeface="Arial"/>
            </a:endParaRPr>
          </a:p>
          <a:p>
            <a:pPr marL="457200" indent="0">
              <a:lnSpc>
                <a:spcPct val="115000"/>
              </a:lnSpc>
              <a:spcAft>
                <a:spcPts val="601"/>
              </a:spcAft>
              <a:buNone/>
              <a:tabLst>
                <a:tab algn="l" pos="0"/>
              </a:tabLst>
            </a:pPr>
            <a:r>
              <a:rPr b="0" lang="en-US" sz="2000" strike="noStrike" u="none">
                <a:solidFill>
                  <a:schemeClr val="dk1"/>
                </a:solidFill>
                <a:effectLst/>
                <a:uFillTx/>
                <a:latin typeface="Lato"/>
                <a:ea typeface="Lato"/>
              </a:rPr>
              <a:t>are rarely compared with classical models.</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My Contribution</a:t>
            </a:r>
            <a:endParaRPr b="0" lang="it-IT" sz="2800" strike="noStrike" u="none">
              <a:solidFill>
                <a:srgbClr val="000000"/>
              </a:solidFill>
              <a:effectLst/>
              <a:uFillTx/>
              <a:latin typeface="Arial"/>
            </a:endParaRPr>
          </a:p>
        </p:txBody>
      </p:sp>
      <p:sp>
        <p:nvSpPr>
          <p:cNvPr id="65"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00000"/>
              </a:lnSpc>
              <a:spcAft>
                <a:spcPts val="901"/>
              </a:spcAft>
              <a:buClr>
                <a:srgbClr val="423a6d"/>
              </a:buClr>
              <a:buFont typeface="Lato"/>
              <a:buChar char="●"/>
            </a:pPr>
            <a:r>
              <a:rPr b="0" lang="en-US" sz="2000" strike="noStrike" u="none">
                <a:solidFill>
                  <a:schemeClr val="dk1"/>
                </a:solidFill>
                <a:effectLst/>
                <a:uFillTx/>
                <a:latin typeface="Lato"/>
                <a:ea typeface="Lato"/>
              </a:rPr>
              <a:t>Developement of the Reinforcement Learning (PPO) strategy</a:t>
            </a:r>
            <a:endParaRPr b="0" lang="it-IT" sz="2000" strike="noStrike" u="none">
              <a:solidFill>
                <a:srgbClr val="000000"/>
              </a:solidFill>
              <a:effectLst/>
              <a:uFillTx/>
              <a:latin typeface="Arial"/>
            </a:endParaRPr>
          </a:p>
          <a:p>
            <a:pPr marL="457200" indent="-343080">
              <a:lnSpc>
                <a:spcPct val="100000"/>
              </a:lnSpc>
              <a:spcAft>
                <a:spcPts val="901"/>
              </a:spcAft>
              <a:buClr>
                <a:srgbClr val="423a6d"/>
              </a:buClr>
              <a:buFont typeface="Lato"/>
              <a:buChar char="●"/>
            </a:pPr>
            <a:r>
              <a:rPr b="0" lang="en-US" sz="2000" strike="noStrike" u="none">
                <a:solidFill>
                  <a:schemeClr val="dk1"/>
                </a:solidFill>
                <a:effectLst/>
                <a:uFillTx/>
                <a:latin typeface="Lato"/>
                <a:ea typeface="Lato"/>
              </a:rPr>
              <a:t>Co-leader of project</a:t>
            </a:r>
            <a:endParaRPr b="0" lang="it-IT" sz="2000" strike="noStrike" u="none">
              <a:solidFill>
                <a:srgbClr val="000000"/>
              </a:solidFill>
              <a:effectLst/>
              <a:uFillTx/>
              <a:latin typeface="Arial"/>
            </a:endParaRPr>
          </a:p>
          <a:p>
            <a:pPr marL="457200" indent="-343080">
              <a:lnSpc>
                <a:spcPct val="100000"/>
              </a:lnSpc>
              <a:spcAft>
                <a:spcPts val="901"/>
              </a:spcAft>
              <a:buClr>
                <a:srgbClr val="423a6d"/>
              </a:buClr>
              <a:buFont typeface="Lato"/>
              <a:buChar char="●"/>
            </a:pPr>
            <a:r>
              <a:rPr b="0" lang="en-US" sz="2000" strike="noStrike" u="none">
                <a:solidFill>
                  <a:schemeClr val="dk1"/>
                </a:solidFill>
                <a:effectLst/>
                <a:uFillTx/>
                <a:latin typeface="Lato"/>
                <a:ea typeface="Lato"/>
              </a:rPr>
              <a:t>Full management of the GitHub project repository</a:t>
            </a:r>
            <a:endParaRPr b="0" lang="it-IT" sz="2000" strike="noStrike" u="none">
              <a:solidFill>
                <a:srgbClr val="000000"/>
              </a:solidFill>
              <a:effectLst/>
              <a:uFillTx/>
              <a:latin typeface="Arial"/>
            </a:endParaRPr>
          </a:p>
          <a:p>
            <a:pPr marL="457200" indent="-343080">
              <a:lnSpc>
                <a:spcPct val="100000"/>
              </a:lnSpc>
              <a:spcAft>
                <a:spcPts val="901"/>
              </a:spcAft>
              <a:buClr>
                <a:srgbClr val="423a6d"/>
              </a:buClr>
              <a:buFont typeface="Lato"/>
              <a:buChar char="●"/>
            </a:pPr>
            <a:r>
              <a:rPr b="0" lang="en-US" sz="2000" strike="noStrike" u="none">
                <a:solidFill>
                  <a:schemeClr val="dk1"/>
                </a:solidFill>
                <a:effectLst/>
                <a:uFillTx/>
                <a:latin typeface="Lato"/>
                <a:ea typeface="Lato"/>
              </a:rPr>
              <a:t>Contribution in report writing</a:t>
            </a:r>
            <a:endParaRPr b="0" lang="it-IT" sz="2000" strike="noStrike" u="none">
              <a:solidFill>
                <a:srgbClr val="000000"/>
              </a:solidFill>
              <a:effectLst/>
              <a:uFillTx/>
              <a:latin typeface="Arial"/>
            </a:endParaRPr>
          </a:p>
          <a:p>
            <a:pPr marL="457200" indent="-343080">
              <a:lnSpc>
                <a:spcPct val="100000"/>
              </a:lnSpc>
              <a:spcAft>
                <a:spcPts val="901"/>
              </a:spcAft>
              <a:buClr>
                <a:srgbClr val="423a6d"/>
              </a:buClr>
              <a:buFont typeface="Lato"/>
              <a:buChar char="●"/>
            </a:pPr>
            <a:r>
              <a:rPr b="0" lang="en-US" sz="2000" strike="noStrike" u="none">
                <a:solidFill>
                  <a:schemeClr val="dk1"/>
                </a:solidFill>
                <a:effectLst/>
                <a:uFillTx/>
                <a:latin typeface="Lato"/>
                <a:ea typeface="Lato"/>
              </a:rPr>
              <a:t>Responsible of the final formatting, validation and submission of all deliverables to the WQU platform. </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Conclusions</a:t>
            </a:r>
            <a:endParaRPr b="0" lang="it-IT" sz="2800" strike="noStrike" u="none">
              <a:solidFill>
                <a:srgbClr val="000000"/>
              </a:solidFill>
              <a:effectLst/>
              <a:uFillTx/>
              <a:latin typeface="Arial"/>
            </a:endParaRPr>
          </a:p>
        </p:txBody>
      </p:sp>
      <p:sp>
        <p:nvSpPr>
          <p:cNvPr id="67"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Goals Achieved: Successfully developed "Smartportfolios," fixing the volatility weaknesses of traditional models.</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Performance: The AI-driven (RL) strategy was the top performer (524.9% return), significantly beating the Markowitz model (428.9%).</a:t>
            </a:r>
            <a:endParaRPr b="0" lang="it-IT" sz="2000" strike="noStrike" u="none">
              <a:solidFill>
                <a:srgbClr val="000000"/>
              </a:solidFill>
              <a:effectLst/>
              <a:uFillTx/>
              <a:latin typeface="Arial"/>
            </a:endParaRPr>
          </a:p>
          <a:p>
            <a:pPr marL="457200" indent="-343080">
              <a:lnSpc>
                <a:spcPct val="115000"/>
              </a:lnSpc>
              <a:spcAft>
                <a:spcPts val="601"/>
              </a:spcAft>
              <a:buClr>
                <a:srgbClr val="423a6d"/>
              </a:buClr>
              <a:buFont typeface="Lato"/>
              <a:buChar char="●"/>
            </a:pPr>
            <a:r>
              <a:rPr b="0" lang="en-US" sz="2000" strike="noStrike" u="none">
                <a:solidFill>
                  <a:schemeClr val="dk1"/>
                </a:solidFill>
                <a:effectLst/>
                <a:uFillTx/>
                <a:latin typeface="Lato"/>
                <a:ea typeface="Lato"/>
              </a:rPr>
              <a:t>Key Insight: AI strategies prioritized Risk Management over prediction. They minimized drawdowns to ~43% </a:t>
            </a:r>
            <a:endParaRPr b="0" lang="it-IT" sz="2000" strike="noStrike" u="none">
              <a:solidFill>
                <a:srgbClr val="000000"/>
              </a:solidFill>
              <a:effectLst/>
              <a:uFillTx/>
              <a:latin typeface="Arial"/>
            </a:endParaRPr>
          </a:p>
          <a:p>
            <a:pPr marL="457200" indent="0">
              <a:lnSpc>
                <a:spcPct val="115000"/>
              </a:lnSpc>
              <a:spcAft>
                <a:spcPts val="601"/>
              </a:spcAft>
              <a:buNone/>
              <a:tabLst>
                <a:tab algn="l" pos="0"/>
              </a:tabLst>
            </a:pPr>
            <a:r>
              <a:rPr b="0" lang="en-US" sz="2000" strike="noStrike" u="none">
                <a:solidFill>
                  <a:schemeClr val="dk1"/>
                </a:solidFill>
                <a:effectLst/>
                <a:uFillTx/>
                <a:latin typeface="Lato"/>
                <a:ea typeface="Lato"/>
              </a:rPr>
              <a:t>(vs 58% for Markowitz) by "learning" that broad diversification was safer than concentration.</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Future Scope of Work</a:t>
            </a:r>
            <a:endParaRPr b="0" lang="it-IT" sz="2800" strike="noStrike" u="none">
              <a:solidFill>
                <a:srgbClr val="000000"/>
              </a:solidFill>
              <a:effectLst/>
              <a:uFillTx/>
              <a:latin typeface="Arial"/>
            </a:endParaRPr>
          </a:p>
        </p:txBody>
      </p:sp>
      <p:sp>
        <p:nvSpPr>
          <p:cNvPr id="69"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spcBef>
                <a:spcPts val="1191"/>
              </a:spcBef>
              <a:spcAft>
                <a:spcPts val="992"/>
              </a:spcAft>
              <a:buClr>
                <a:srgbClr val="423a6d"/>
              </a:buClr>
              <a:buFont typeface="Lato"/>
              <a:buChar char="●"/>
            </a:pPr>
            <a:r>
              <a:rPr b="0" lang="en-US" sz="2000" strike="noStrike" u="none">
                <a:solidFill>
                  <a:srgbClr val="1f1749"/>
                </a:solidFill>
                <a:effectLst/>
                <a:uFillTx/>
                <a:latin typeface="Lato"/>
                <a:ea typeface="Lato"/>
              </a:rPr>
              <a:t>Introduce Real-World Frictions (transaction fees, slippage, and market impact)</a:t>
            </a:r>
            <a:endParaRPr b="0" lang="it-IT" sz="2000" strike="noStrike" u="none">
              <a:solidFill>
                <a:srgbClr val="000000"/>
              </a:solidFill>
              <a:effectLst/>
              <a:uFillTx/>
              <a:latin typeface="Arial"/>
            </a:endParaRPr>
          </a:p>
          <a:p>
            <a:pPr marL="457200" indent="-343080">
              <a:lnSpc>
                <a:spcPct val="115000"/>
              </a:lnSpc>
              <a:spcBef>
                <a:spcPts val="1191"/>
              </a:spcBef>
              <a:spcAft>
                <a:spcPts val="992"/>
              </a:spcAft>
              <a:buClr>
                <a:srgbClr val="423a6d"/>
              </a:buClr>
              <a:buFont typeface="Lato"/>
              <a:buChar char="●"/>
            </a:pPr>
            <a:r>
              <a:rPr b="0" lang="en-US" sz="2000" strike="noStrike" u="none">
                <a:solidFill>
                  <a:srgbClr val="000000"/>
                </a:solidFill>
                <a:effectLst/>
                <a:uFillTx/>
                <a:latin typeface="Arial"/>
                <a:ea typeface="Arial"/>
              </a:rPr>
              <a:t>Expand Data Horizons (extend the backtesting period  and asset universe) and stronger backtesting implementation</a:t>
            </a:r>
            <a:endParaRPr b="0" lang="it-IT" sz="2000" strike="noStrike" u="none">
              <a:solidFill>
                <a:srgbClr val="000000"/>
              </a:solidFill>
              <a:effectLst/>
              <a:uFillTx/>
              <a:latin typeface="Arial"/>
            </a:endParaRPr>
          </a:p>
          <a:p>
            <a:pPr marL="457200" indent="-343080">
              <a:lnSpc>
                <a:spcPct val="115000"/>
              </a:lnSpc>
              <a:spcBef>
                <a:spcPts val="1191"/>
              </a:spcBef>
              <a:spcAft>
                <a:spcPts val="992"/>
              </a:spcAft>
              <a:buClr>
                <a:srgbClr val="423a6d"/>
              </a:buClr>
              <a:buFont typeface="Lato"/>
              <a:buChar char="●"/>
            </a:pPr>
            <a:r>
              <a:rPr b="0" lang="en-US" sz="2000" strike="noStrike" u="none">
                <a:solidFill>
                  <a:srgbClr val="000000"/>
                </a:solidFill>
                <a:effectLst/>
                <a:uFillTx/>
                <a:latin typeface="Arial"/>
                <a:ea typeface="Arial"/>
              </a:rPr>
              <a:t>Integrate Real-Time ESG Data</a:t>
            </a:r>
            <a:endParaRPr b="0" lang="it-IT" sz="2000" strike="noStrike" u="none">
              <a:solidFill>
                <a:srgbClr val="000000"/>
              </a:solidFill>
              <a:effectLst/>
              <a:uFillTx/>
              <a:latin typeface="Arial"/>
            </a:endParaRPr>
          </a:p>
          <a:p>
            <a:pPr marL="457200" indent="-343080">
              <a:lnSpc>
                <a:spcPct val="115000"/>
              </a:lnSpc>
              <a:buClr>
                <a:srgbClr val="423a6d"/>
              </a:buClr>
              <a:buFont typeface="Lato"/>
              <a:buChar char="●"/>
            </a:pPr>
            <a:r>
              <a:rPr b="0" lang="en-US" sz="2000" strike="noStrike" u="none">
                <a:solidFill>
                  <a:srgbClr val="000000"/>
                </a:solidFill>
                <a:effectLst/>
                <a:uFillTx/>
                <a:latin typeface="Arial"/>
                <a:ea typeface="Arial"/>
              </a:rPr>
              <a:t>Further develop the "Hybrid Ensemble" approach</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65760" y="609480"/>
            <a:ext cx="8519760" cy="572040"/>
          </a:xfrm>
          <a:prstGeom prst="rect">
            <a:avLst/>
          </a:prstGeom>
          <a:noFill/>
          <a:ln w="0">
            <a:noFill/>
          </a:ln>
        </p:spPr>
        <p:txBody>
          <a:bodyPr lIns="91440" rIns="91440" tIns="91440" bIns="91440" anchor="t">
            <a:noAutofit/>
          </a:bodyPr>
          <a:p>
            <a:pPr indent="0">
              <a:lnSpc>
                <a:spcPct val="100000"/>
              </a:lnSpc>
              <a:buNone/>
              <a:tabLst>
                <a:tab algn="l" pos="0"/>
              </a:tabLst>
            </a:pPr>
            <a:r>
              <a:rPr b="1" lang="en-US" sz="2800" strike="noStrike" u="none">
                <a:solidFill>
                  <a:srgbClr val="1f1749"/>
                </a:solidFill>
                <a:effectLst/>
                <a:uFillTx/>
                <a:latin typeface="Roboto Slab"/>
                <a:ea typeface="Roboto Slab"/>
              </a:rPr>
              <a:t>Thank You &amp; Q&amp;A</a:t>
            </a:r>
            <a:endParaRPr b="0" lang="it-IT" sz="2800" strike="noStrike" u="none">
              <a:solidFill>
                <a:srgbClr val="000000"/>
              </a:solidFill>
              <a:effectLst/>
              <a:uFillTx/>
              <a:latin typeface="Arial"/>
            </a:endParaRPr>
          </a:p>
        </p:txBody>
      </p:sp>
      <p:sp>
        <p:nvSpPr>
          <p:cNvPr id="71" name="PlaceHolder 2"/>
          <p:cNvSpPr>
            <a:spLocks noGrp="1"/>
          </p:cNvSpPr>
          <p:nvPr>
            <p:ph/>
          </p:nvPr>
        </p:nvSpPr>
        <p:spPr>
          <a:xfrm>
            <a:off x="365760" y="1354320"/>
            <a:ext cx="8519760" cy="2953440"/>
          </a:xfrm>
          <a:prstGeom prst="rect">
            <a:avLst/>
          </a:prstGeom>
          <a:noFill/>
          <a:ln w="0">
            <a:noFill/>
          </a:ln>
        </p:spPr>
        <p:txBody>
          <a:bodyPr lIns="91440" rIns="91440" tIns="91440" bIns="91440" anchor="t">
            <a:noAutofit/>
          </a:bodyPr>
          <a:p>
            <a:pPr marL="457200" indent="-343080">
              <a:lnSpc>
                <a:spcPct val="115000"/>
              </a:lnSpc>
              <a:buClr>
                <a:srgbClr val="423a6d"/>
              </a:buClr>
              <a:buFont typeface="Lato"/>
              <a:buChar char="●"/>
            </a:pPr>
            <a:r>
              <a:rPr b="0" lang="en-US" sz="2000" strike="noStrike" u="none">
                <a:solidFill>
                  <a:srgbClr val="1f1749"/>
                </a:solidFill>
                <a:effectLst/>
                <a:uFillTx/>
                <a:latin typeface="Verdana"/>
                <a:ea typeface="Lato"/>
              </a:rPr>
              <a:t>Many thanks to The WorldQuant University Team for the support provided during the entire MScFE.</a:t>
            </a:r>
            <a:br>
              <a:rPr sz="2000"/>
            </a:br>
            <a:r>
              <a:rPr b="0" lang="en-US" sz="2000" strike="noStrike" u="none">
                <a:solidFill>
                  <a:srgbClr val="1f1749"/>
                </a:solidFill>
                <a:effectLst/>
                <a:uFillTx/>
                <a:latin typeface="Verdana"/>
                <a:ea typeface="Lato"/>
              </a:rPr>
              <a:t> </a:t>
            </a:r>
            <a:endParaRPr b="0" lang="it-IT" sz="2000" strike="noStrike" u="none">
              <a:solidFill>
                <a:srgbClr val="000000"/>
              </a:solidFill>
              <a:effectLst/>
              <a:uFillTx/>
              <a:latin typeface="Arial"/>
            </a:endParaRPr>
          </a:p>
          <a:p>
            <a:pPr marL="457200" indent="-343080">
              <a:lnSpc>
                <a:spcPct val="115000"/>
              </a:lnSpc>
              <a:buClr>
                <a:srgbClr val="423a6d"/>
              </a:buClr>
              <a:buFont typeface="Lato"/>
              <a:buChar char="●"/>
            </a:pPr>
            <a:r>
              <a:rPr b="0" lang="en-US" sz="2000" strike="noStrike" u="none">
                <a:solidFill>
                  <a:srgbClr val="000000"/>
                </a:solidFill>
                <a:effectLst/>
                <a:uFillTx/>
                <a:latin typeface="Verdana"/>
                <a:ea typeface="Arial"/>
              </a:rPr>
              <a:t>Contact The Team</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Verdana"/>
                <a:ea typeface="Arial"/>
              </a:rPr>
              <a:t>Vicky Singh - </a:t>
            </a:r>
            <a:r>
              <a:rPr b="0" lang="en-US" sz="2000" strike="noStrike" u="none">
                <a:solidFill>
                  <a:srgbClr val="000000"/>
                </a:solidFill>
                <a:effectLst/>
                <a:uFillTx/>
                <a:latin typeface="Verdana"/>
                <a:ea typeface="Arial"/>
                <a:hlinkClick r:id="rId1"/>
              </a:rPr>
              <a:t>ivickysingh@yahoo.com</a:t>
            </a:r>
            <a:r>
              <a:rPr b="0" lang="en-US" sz="2000" strike="noStrike" u="none">
                <a:solidFill>
                  <a:srgbClr val="000000"/>
                </a:solidFill>
                <a:effectLst/>
                <a:uFillTx/>
                <a:latin typeface="Verdana"/>
                <a:ea typeface="Arial"/>
              </a:rPr>
              <a:t>  </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Verdana"/>
                <a:ea typeface="Arial"/>
              </a:rPr>
              <a:t>Davide Freni - </a:t>
            </a:r>
            <a:r>
              <a:rPr b="0" lang="en-US" sz="2000" strike="noStrike" u="none">
                <a:solidFill>
                  <a:srgbClr val="000000"/>
                </a:solidFill>
                <a:effectLst/>
                <a:uFillTx/>
                <a:latin typeface="Verdana"/>
                <a:ea typeface="Arial"/>
                <a:hlinkClick r:id="rId2"/>
              </a:rPr>
              <a:t>davide.freni@gmail.com</a:t>
            </a:r>
            <a:r>
              <a:rPr b="0" lang="en-US" sz="2000" strike="noStrike" u="none">
                <a:solidFill>
                  <a:srgbClr val="000000"/>
                </a:solidFill>
                <a:effectLst/>
                <a:uFillTx/>
                <a:latin typeface="Verdana"/>
                <a:ea typeface="Arial"/>
              </a:rPr>
              <a:t>  </a:t>
            </a:r>
            <a:endParaRPr b="0" lang="it-IT" sz="20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rgbClr val="000000"/>
                </a:solidFill>
                <a:effectLst/>
                <a:uFillTx/>
                <a:latin typeface="Verdana"/>
                <a:ea typeface="Arial"/>
              </a:rPr>
              <a:t>Kenneth Kariuki - </a:t>
            </a:r>
            <a:r>
              <a:rPr b="0" lang="en-US" sz="2000" strike="noStrike" u="none">
                <a:solidFill>
                  <a:srgbClr val="000000"/>
                </a:solidFill>
                <a:effectLst/>
                <a:uFillTx/>
                <a:latin typeface="Verdana"/>
                <a:ea typeface="Arial"/>
                <a:hlinkClick r:id="rId3"/>
              </a:rPr>
              <a:t>kenkarish1935@gmail.com</a:t>
            </a:r>
            <a:r>
              <a:rPr b="0" lang="en-US" sz="2000" strike="noStrike" u="none">
                <a:solidFill>
                  <a:srgbClr val="000000"/>
                </a:solidFill>
                <a:effectLst/>
                <a:uFillTx/>
                <a:latin typeface="Verdana"/>
                <a:ea typeface="Arial"/>
              </a:rPr>
              <a:t> </a:t>
            </a:r>
            <a:endParaRPr b="0" lang="it-IT" sz="2000" strike="noStrike" u="none">
              <a:solidFill>
                <a:srgbClr val="000000"/>
              </a:solidFill>
              <a:effectLst/>
              <a:uFillTx/>
              <a:latin typeface="Arial"/>
            </a:endParaRPr>
          </a:p>
          <a:p>
            <a:pPr marL="457200" indent="-343080">
              <a:lnSpc>
                <a:spcPct val="100000"/>
              </a:lnSpc>
              <a:spcBef>
                <a:spcPts val="1191"/>
              </a:spcBef>
              <a:spcAft>
                <a:spcPts val="992"/>
              </a:spcAft>
              <a:buClr>
                <a:srgbClr val="423a6d"/>
              </a:buClr>
              <a:buFont typeface="Lato"/>
              <a:buChar char="●"/>
            </a:pPr>
            <a:r>
              <a:rPr b="0" lang="en-US" sz="2000" strike="noStrike" u="none">
                <a:solidFill>
                  <a:srgbClr val="000000"/>
                </a:solidFill>
                <a:effectLst/>
                <a:uFillTx/>
                <a:latin typeface="Verdana"/>
                <a:ea typeface="Arial"/>
              </a:rPr>
              <a:t>Project Repository: </a:t>
            </a:r>
            <a:br>
              <a:rPr sz="2000"/>
            </a:br>
            <a:r>
              <a:rPr b="0" lang="en-US" sz="2000" strike="noStrike" u="none">
                <a:solidFill>
                  <a:srgbClr val="000000"/>
                </a:solidFill>
                <a:effectLst/>
                <a:uFillTx/>
                <a:latin typeface="Verdana"/>
                <a:ea typeface="Arial"/>
              </a:rPr>
              <a:t>- </a:t>
            </a:r>
            <a:r>
              <a:rPr b="0" lang="en-US" sz="1900" strike="noStrike" u="none">
                <a:solidFill>
                  <a:srgbClr val="000000"/>
                </a:solidFill>
                <a:effectLst/>
                <a:uFillTx/>
                <a:latin typeface="Verdana"/>
                <a:ea typeface="Arial"/>
              </a:rPr>
              <a:t>https://github.com/Davide-666/WQU-MScFE-Capstone</a:t>
            </a:r>
            <a:endParaRPr b="0" lang="it-IT" sz="1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1776</TotalTime>
  <Application>LibreOffice/25.2.7.2$Windows_X86_64 LibreOffice_project/5cbfd1ab6520636bb5f7b99185aa69bd7456825d</Application>
  <AppVersion>15.0000</AppVersion>
  <Words>285</Words>
  <Paragraphs>29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Gabriella Maiello</dc:creator>
  <dc:description/>
  <dc:language>it-IT</dc:language>
  <cp:lastModifiedBy/>
  <cp:lastPrinted>2019-09-06T17:22:59Z</cp:lastPrinted>
  <dcterms:modified xsi:type="dcterms:W3CDTF">2025-12-07T17:08:03Z</dcterms:modified>
  <cp:revision>141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(16:9)</vt:lpwstr>
  </property>
  <property fmtid="{D5CDD505-2E9C-101B-9397-08002B2CF9AE}" pid="3" name="Slides">
    <vt:i4>12</vt:i4>
  </property>
</Properties>
</file>